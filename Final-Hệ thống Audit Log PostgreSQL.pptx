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73" r:id="rId2"/>
    <p:sldId id="257" r:id="rId3"/>
    <p:sldId id="456" r:id="rId4"/>
    <p:sldId id="455" r:id="rId5"/>
    <p:sldId id="457" r:id="rId6"/>
    <p:sldId id="453" r:id="rId7"/>
    <p:sldId id="454" r:id="rId8"/>
    <p:sldId id="259" r:id="rId9"/>
    <p:sldId id="260" r:id="rId10"/>
    <p:sldId id="261" r:id="rId11"/>
    <p:sldId id="262" r:id="rId12"/>
    <p:sldId id="263" r:id="rId13"/>
    <p:sldId id="264" r:id="rId14"/>
    <p:sldId id="266" r:id="rId15"/>
    <p:sldId id="267" r:id="rId16"/>
    <p:sldId id="268" r:id="rId17"/>
    <p:sldId id="269" r:id="rId18"/>
  </p:sldIdLst>
  <p:sldSz cx="12192000" cy="6858000"/>
  <p:notesSz cx="6858000" cy="9144000"/>
  <p:embeddedFontLst>
    <p:embeddedFont>
      <p:font typeface="Geo" panose="020B0604020202020204"/>
      <p:regular r:id="rId20"/>
      <p:italic r:id="rId21"/>
    </p:embeddedFont>
    <p:embeddedFont>
      <p:font typeface="Montserrat" panose="00000500000000000000" pitchFamily="2" charset="0"/>
      <p:regular r:id="rId22"/>
      <p:bold r:id="rId23"/>
      <p:italic r:id="rId24"/>
      <p:boldItalic r:id="rId25"/>
    </p:embeddedFont>
    <p:embeddedFont>
      <p:font typeface="Montserrat SemiBold" panose="00000700000000000000" pitchFamily="2"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Open Sans SemiBold" panose="020B0706030804020204" pitchFamily="34" charset="0"/>
      <p:regular r:id="rId34"/>
      <p:bold r:id="rId35"/>
      <p:italic r:id="rId36"/>
      <p:boldItalic r:id="rId37"/>
    </p:embeddedFont>
    <p:embeddedFont>
      <p:font typeface="Tahoma" panose="020B0604030504040204" pitchFamily="3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27932C-D9CD-4B2D-8FF9-38AF6C7479CE}">
  <a:tblStyle styleId="{8527932C-D9CD-4B2D-8FF9-38AF6C7479C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998" y="115"/>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d9fac49244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d9fac49244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FFD78B26-E9ED-A791-37A8-50A35C9D809A}"/>
            </a:ext>
          </a:extLst>
        </p:cNvPr>
        <p:cNvGrpSpPr/>
        <p:nvPr/>
      </p:nvGrpSpPr>
      <p:grpSpPr>
        <a:xfrm>
          <a:off x="0" y="0"/>
          <a:ext cx="0" cy="0"/>
          <a:chOff x="0" y="0"/>
          <a:chExt cx="0" cy="0"/>
        </a:xfrm>
      </p:grpSpPr>
      <p:sp>
        <p:nvSpPr>
          <p:cNvPr id="83" name="Google Shape;83;g3d9fac49244_1_23:notes">
            <a:extLst>
              <a:ext uri="{FF2B5EF4-FFF2-40B4-BE49-F238E27FC236}">
                <a16:creationId xmlns:a16="http://schemas.microsoft.com/office/drawing/2014/main" id="{A1E02298-8DAE-B6B5-A60F-EEB125569C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d9fac49244_1_23:notes">
            <a:extLst>
              <a:ext uri="{FF2B5EF4-FFF2-40B4-BE49-F238E27FC236}">
                <a16:creationId xmlns:a16="http://schemas.microsoft.com/office/drawing/2014/main" id="{F3DB77DB-2A3C-C17C-2953-01B35D8176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3754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9fac49244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9fac49244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EB62AFF-A018-96E4-0E5C-917DA0C7A56F}"/>
            </a:ext>
          </a:extLst>
        </p:cNvPr>
        <p:cNvGrpSpPr/>
        <p:nvPr/>
      </p:nvGrpSpPr>
      <p:grpSpPr>
        <a:xfrm>
          <a:off x="0" y="0"/>
          <a:ext cx="0" cy="0"/>
          <a:chOff x="0" y="0"/>
          <a:chExt cx="0" cy="0"/>
        </a:xfrm>
      </p:grpSpPr>
      <p:sp>
        <p:nvSpPr>
          <p:cNvPr id="89" name="Google Shape;89;g3d9fac49244_1_30:notes">
            <a:extLst>
              <a:ext uri="{FF2B5EF4-FFF2-40B4-BE49-F238E27FC236}">
                <a16:creationId xmlns:a16="http://schemas.microsoft.com/office/drawing/2014/main" id="{FFD435FD-0D53-0F50-8084-711EE5DAC8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9fac49244_1_30:notes">
            <a:extLst>
              <a:ext uri="{FF2B5EF4-FFF2-40B4-BE49-F238E27FC236}">
                <a16:creationId xmlns:a16="http://schemas.microsoft.com/office/drawing/2014/main" id="{5E61EB68-26AE-40AB-2B1A-C1AFB269D0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602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36EA79F-AA16-562B-4A5F-7FF1582B026A}"/>
            </a:ext>
          </a:extLst>
        </p:cNvPr>
        <p:cNvGrpSpPr/>
        <p:nvPr/>
      </p:nvGrpSpPr>
      <p:grpSpPr>
        <a:xfrm>
          <a:off x="0" y="0"/>
          <a:ext cx="0" cy="0"/>
          <a:chOff x="0" y="0"/>
          <a:chExt cx="0" cy="0"/>
        </a:xfrm>
      </p:grpSpPr>
      <p:sp>
        <p:nvSpPr>
          <p:cNvPr id="132" name="Google Shape;132;p2:notes">
            <a:extLst>
              <a:ext uri="{FF2B5EF4-FFF2-40B4-BE49-F238E27FC236}">
                <a16:creationId xmlns:a16="http://schemas.microsoft.com/office/drawing/2014/main" id="{DF65B73A-7A2D-44DE-E883-CA7892E3BD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2:notes">
            <a:extLst>
              <a:ext uri="{FF2B5EF4-FFF2-40B4-BE49-F238E27FC236}">
                <a16:creationId xmlns:a16="http://schemas.microsoft.com/office/drawing/2014/main" id="{BDFAE431-48C0-A625-3095-C7B5E228FA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785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solidFill>
                  <a:schemeClr val="accent1">
                    <a:lumMod val="50000"/>
                  </a:schemeClr>
                </a:solidFill>
                <a:latin typeface="Arial" panose="020B0604020202020204" pitchFamily="34" charset="0"/>
                <a:ea typeface="+mn-ea"/>
                <a:cs typeface="Arial" panose="020B0604020202020204" pitchFamily="34" charset="0"/>
              </a:defRPr>
            </a:lvl1pPr>
          </a:lstStyle>
          <a:p>
            <a:pPr lvl="0"/>
            <a:r>
              <a:rPr lang="en-VN"/>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solidFill>
                  <a:schemeClr val="accent3">
                    <a:lumMod val="75000"/>
                  </a:schemeClr>
                </a:solidFill>
                <a:effectLst>
                  <a:innerShdw blurRad="114300">
                    <a:schemeClr val="bg1"/>
                  </a:innerShdw>
                </a:effectLst>
                <a:latin typeface="Arial" panose="020B0604020202020204" pitchFamily="34" charset="0"/>
                <a:ea typeface="+mn-ea"/>
                <a:cs typeface="Arial" panose="020B0604020202020204" pitchFamily="34" charset="0"/>
              </a:defRPr>
            </a:lvl1pPr>
          </a:lstStyle>
          <a:p>
            <a:pPr lvl="0"/>
            <a:r>
              <a:rPr lang="en-VN"/>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7758953" y="5005949"/>
            <a:ext cx="3637025" cy="345005"/>
          </a:xfrm>
          <a:noFill/>
          <a:ln>
            <a:noFill/>
          </a:ln>
        </p:spPr>
        <p:style>
          <a:lnRef idx="2">
            <a:schemeClr val="accent2"/>
          </a:lnRef>
          <a:fillRef idx="1">
            <a:schemeClr val="lt1"/>
          </a:fillRef>
          <a:effectRef idx="0">
            <a:schemeClr val="accent2"/>
          </a:effectRef>
          <a:fontRef idx="none"/>
        </p:style>
        <p:txBody>
          <a:bodyPr anchor="ctr">
            <a:noAutofit/>
          </a:bodyPr>
          <a:lstStyle>
            <a:lvl1pPr marL="0" indent="0" algn="ctr">
              <a:buNone/>
              <a:defRPr sz="1800" b="1" i="0">
                <a:solidFill>
                  <a:srgbClr val="114F91"/>
                </a:solidFill>
                <a:latin typeface="Tahoma" panose="020B0604030504040204" pitchFamily="34" charset="0"/>
                <a:ea typeface="Tahoma" panose="020B0604030504040204" pitchFamily="34" charset="0"/>
                <a:cs typeface="Tahoma" panose="020B0604030504040204" pitchFamily="34" charset="0"/>
              </a:defRPr>
            </a:lvl1pPr>
          </a:lstStyle>
          <a:p>
            <a:pPr lvl="0"/>
            <a:r>
              <a:rPr lang="en-VN"/>
              <a:t>Trình bày: Tên Giảng viên</a:t>
            </a:r>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E4E74C37-9194-2F41-8AF3-9D2822A27DA3}" type="datetime4">
              <a:rPr lang="en-US" smtClean="0"/>
              <a:t>April 3, 2026</a:t>
            </a:fld>
            <a:endParaRPr lang="en-US"/>
          </a:p>
        </p:txBody>
      </p:sp>
    </p:spTree>
    <p:extLst>
      <p:ext uri="{BB962C8B-B14F-4D97-AF65-F5344CB8AC3E}">
        <p14:creationId xmlns:p14="http://schemas.microsoft.com/office/powerpoint/2010/main" val="3394315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Tree>
    <p:extLst>
      <p:ext uri="{BB962C8B-B14F-4D97-AF65-F5344CB8AC3E}">
        <p14:creationId xmlns:p14="http://schemas.microsoft.com/office/powerpoint/2010/main" val="183515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DF7B1EB-02CD-733F-59FE-6D1CE2E4D4D6}"/>
              </a:ext>
            </a:extLst>
          </p:cNvPr>
          <p:cNvSpPr>
            <a:spLocks noGrp="1"/>
          </p:cNvSpPr>
          <p:nvPr>
            <p:ph type="body" sz="quarter" idx="14"/>
          </p:nvPr>
        </p:nvSpPr>
        <p:spPr>
          <a:xfrm>
            <a:off x="876986" y="2490955"/>
            <a:ext cx="10669932" cy="1096610"/>
          </a:xfrm>
        </p:spPr>
        <p:txBody>
          <a:bodyPr/>
          <a:lstStyle/>
          <a:p>
            <a:r>
              <a:rPr lang="en-US" sz="3000">
                <a:effectLst>
                  <a:innerShdw blurRad="114300">
                    <a:srgbClr val="FFFFFF"/>
                  </a:innerShdw>
                </a:effectLst>
              </a:rPr>
              <a:t>NGHIÊN CỨU VÀ XÂY DỰNG HỆ THỐNG AUDIT LOG</a:t>
            </a:r>
          </a:p>
          <a:p>
            <a:r>
              <a:rPr lang="en-US" sz="3000">
                <a:effectLst>
                  <a:innerShdw blurRad="114300">
                    <a:srgbClr val="FFFFFF"/>
                  </a:innerShdw>
                </a:effectLst>
              </a:rPr>
              <a:t>TRÊN POSTGRES SỬ DỤNG PARTITIONING AND JSONB</a:t>
            </a:r>
            <a:endParaRPr lang="en-US" sz="3000" dirty="0">
              <a:effectLst>
                <a:innerShdw blurRad="114300">
                  <a:srgbClr val="FFFFFF"/>
                </a:innerShdw>
              </a:effectLst>
            </a:endParaRPr>
          </a:p>
        </p:txBody>
      </p:sp>
      <p:sp>
        <p:nvSpPr>
          <p:cNvPr id="8" name="Text Placeholder 7">
            <a:extLst>
              <a:ext uri="{FF2B5EF4-FFF2-40B4-BE49-F238E27FC236}">
                <a16:creationId xmlns:a16="http://schemas.microsoft.com/office/drawing/2014/main" id="{762E2EDA-B0D1-F7CF-9742-6DC7172784E6}"/>
              </a:ext>
            </a:extLst>
          </p:cNvPr>
          <p:cNvSpPr>
            <a:spLocks noGrp="1"/>
          </p:cNvSpPr>
          <p:nvPr>
            <p:ph type="body" sz="quarter" idx="13"/>
          </p:nvPr>
        </p:nvSpPr>
        <p:spPr>
          <a:xfrm>
            <a:off x="1850804" y="1135495"/>
            <a:ext cx="8490387" cy="1151506"/>
          </a:xfrm>
        </p:spPr>
        <p:txBody>
          <a:bodyPr vert="horz" lIns="91440" tIns="45720" rIns="91440" bIns="45720" rtlCol="0" anchor="ctr">
            <a:noAutofit/>
          </a:bodyPr>
          <a:lstStyle/>
          <a:p>
            <a:pPr>
              <a:lnSpc>
                <a:spcPct val="120000"/>
              </a:lnSpc>
            </a:pPr>
            <a:r>
              <a:rPr lang="en-US" b="0"/>
              <a:t>IT2011 – Cơ sở dữ liệu nâng cao</a:t>
            </a:r>
            <a:endParaRPr lang="en-US" sz="4000" dirty="0"/>
          </a:p>
        </p:txBody>
      </p:sp>
      <p:sp>
        <p:nvSpPr>
          <p:cNvPr id="4" name="TextBox 3">
            <a:extLst>
              <a:ext uri="{FF2B5EF4-FFF2-40B4-BE49-F238E27FC236}">
                <a16:creationId xmlns:a16="http://schemas.microsoft.com/office/drawing/2014/main" id="{2F0A806D-9D77-A207-2FC9-7314346D0852}"/>
              </a:ext>
            </a:extLst>
          </p:cNvPr>
          <p:cNvSpPr txBox="1"/>
          <p:nvPr/>
        </p:nvSpPr>
        <p:spPr>
          <a:xfrm>
            <a:off x="3639003" y="3913439"/>
            <a:ext cx="4913987" cy="1269002"/>
          </a:xfrm>
          <a:prstGeom prst="rect">
            <a:avLst/>
          </a:prstGeom>
          <a:noFill/>
        </p:spPr>
        <p:txBody>
          <a:bodyPr wrap="square" lIns="91440" tIns="45720" rIns="91440" bIns="45720" rtlCol="0" anchor="t">
            <a:spAutoFit/>
          </a:bodyPr>
          <a:lstStyle/>
          <a:p>
            <a:pPr algn="ctr">
              <a:lnSpc>
                <a:spcPct val="120000"/>
              </a:lnSpc>
              <a:spcBef>
                <a:spcPts val="200"/>
              </a:spcBef>
              <a:spcAft>
                <a:spcPts val="200"/>
              </a:spcAft>
            </a:pPr>
            <a:r>
              <a:rPr lang="en-VN" sz="2000">
                <a:latin typeface="Arial"/>
                <a:cs typeface="Arial"/>
              </a:rPr>
              <a:t>GVHD:</a:t>
            </a:r>
            <a:r>
              <a:rPr lang="en-US" sz="2000">
                <a:latin typeface="Arial"/>
                <a:cs typeface="Arial"/>
              </a:rPr>
              <a:t> </a:t>
            </a:r>
            <a:r>
              <a:rPr lang="en-VN" sz="2000">
                <a:latin typeface="Arial"/>
                <a:cs typeface="Arial"/>
              </a:rPr>
              <a:t>TS</a:t>
            </a:r>
            <a:r>
              <a:rPr lang="en-VN" sz="2000" dirty="0">
                <a:latin typeface="Arial"/>
                <a:cs typeface="Arial"/>
              </a:rPr>
              <a:t>. </a:t>
            </a:r>
            <a:r>
              <a:rPr lang="en-VN" sz="2000">
                <a:latin typeface="Arial"/>
                <a:cs typeface="Arial"/>
              </a:rPr>
              <a:t>Nguyễn </a:t>
            </a:r>
            <a:r>
              <a:rPr lang="en-US" sz="2000"/>
              <a:t>Gia Tuấn Anh</a:t>
            </a:r>
            <a:endParaRPr lang="en-US" sz="2000" dirty="0">
              <a:latin typeface="Arial" panose="020B0604020202020204" pitchFamily="34" charset="0"/>
              <a:cs typeface="Arial" panose="020B0604020202020204" pitchFamily="34" charset="0"/>
            </a:endParaRPr>
          </a:p>
          <a:p>
            <a:pPr algn="ctr">
              <a:lnSpc>
                <a:spcPct val="120000"/>
              </a:lnSpc>
              <a:spcBef>
                <a:spcPts val="200"/>
              </a:spcBef>
              <a:spcAft>
                <a:spcPts val="200"/>
              </a:spcAft>
            </a:pPr>
            <a:r>
              <a:rPr lang="en-VN" sz="2000" dirty="0">
                <a:latin typeface="Arial"/>
                <a:cs typeface="Arial"/>
              </a:rPr>
              <a:t>Học viên:</a:t>
            </a:r>
            <a:endParaRPr lang="en-VN" sz="2000" dirty="0">
              <a:latin typeface="Arial" panose="020B0604020202020204" pitchFamily="34" charset="0"/>
              <a:cs typeface="Arial" panose="020B0604020202020204" pitchFamily="34" charset="0"/>
            </a:endParaRPr>
          </a:p>
          <a:p>
            <a:pPr>
              <a:lnSpc>
                <a:spcPct val="120000"/>
              </a:lnSpc>
              <a:spcBef>
                <a:spcPts val="200"/>
              </a:spcBef>
              <a:spcAft>
                <a:spcPts val="200"/>
              </a:spcAft>
            </a:pPr>
            <a:r>
              <a:rPr lang="en-US" sz="2000">
                <a:latin typeface="Arial"/>
                <a:cs typeface="Arial"/>
              </a:rPr>
              <a:t>     </a:t>
            </a:r>
            <a:r>
              <a:rPr lang="en-VN" sz="2000">
                <a:latin typeface="Arial"/>
                <a:cs typeface="Arial"/>
              </a:rPr>
              <a:t>250202012 </a:t>
            </a:r>
            <a:r>
              <a:rPr lang="en-VN" sz="2000" dirty="0">
                <a:latin typeface="Arial"/>
                <a:cs typeface="Arial"/>
              </a:rPr>
              <a:t>– Nguyễn Đăng </a:t>
            </a:r>
            <a:r>
              <a:rPr lang="en-VN" sz="2000">
                <a:latin typeface="Arial"/>
                <a:cs typeface="Arial"/>
              </a:rPr>
              <a:t>Phúc Lợi</a:t>
            </a:r>
            <a:endParaRPr lang="en-VN" sz="2000" dirty="0">
              <a:latin typeface="Arial"/>
              <a:cs typeface="Arial"/>
            </a:endParaRPr>
          </a:p>
        </p:txBody>
      </p:sp>
      <p:sp>
        <p:nvSpPr>
          <p:cNvPr id="7" name="TextBox 6">
            <a:extLst>
              <a:ext uri="{FF2B5EF4-FFF2-40B4-BE49-F238E27FC236}">
                <a16:creationId xmlns:a16="http://schemas.microsoft.com/office/drawing/2014/main" id="{12282A03-11B2-1DEF-B385-4B6E2983F734}"/>
              </a:ext>
            </a:extLst>
          </p:cNvPr>
          <p:cNvSpPr txBox="1"/>
          <p:nvPr/>
        </p:nvSpPr>
        <p:spPr>
          <a:xfrm>
            <a:off x="9395637" y="6401940"/>
            <a:ext cx="2796363" cy="327077"/>
          </a:xfrm>
          <a:prstGeom prst="rect">
            <a:avLst/>
          </a:prstGeom>
          <a:noFill/>
        </p:spPr>
        <p:txBody>
          <a:bodyPr wrap="square" lIns="91440" tIns="45720" rIns="91440" bIns="45720" rtlCol="0" anchor="t">
            <a:spAutoFit/>
          </a:bodyPr>
          <a:lstStyle/>
          <a:p>
            <a:pPr algn="just">
              <a:lnSpc>
                <a:spcPct val="120000"/>
              </a:lnSpc>
              <a:spcBef>
                <a:spcPts val="200"/>
              </a:spcBef>
              <a:spcAft>
                <a:spcPts val="200"/>
              </a:spcAft>
            </a:pPr>
            <a:r>
              <a:rPr lang="en-VN" dirty="0">
                <a:latin typeface="Arial"/>
                <a:cs typeface="Arial"/>
              </a:rPr>
              <a:t>Ngày</a:t>
            </a:r>
            <a:r>
              <a:rPr lang="en-VN">
                <a:latin typeface="Arial"/>
                <a:cs typeface="Arial"/>
              </a:rPr>
              <a:t>: </a:t>
            </a:r>
            <a:r>
              <a:rPr lang="en-US"/>
              <a:t>04</a:t>
            </a:r>
            <a:r>
              <a:rPr lang="en-VN">
                <a:latin typeface="Arial"/>
                <a:cs typeface="Arial"/>
              </a:rPr>
              <a:t>/0</a:t>
            </a:r>
            <a:r>
              <a:rPr lang="en-US">
                <a:latin typeface="Arial"/>
                <a:cs typeface="Arial"/>
              </a:rPr>
              <a:t>4</a:t>
            </a:r>
            <a:r>
              <a:rPr lang="en-VN">
                <a:latin typeface="Arial"/>
                <a:cs typeface="Arial"/>
              </a:rPr>
              <a:t>/2026</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181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15600" y="159386"/>
            <a:ext cx="11360800" cy="763600"/>
          </a:xfrm>
          <a:prstGeom prst="rect">
            <a:avLst/>
          </a:prstGeom>
        </p:spPr>
        <p:txBody>
          <a:bodyPr spcFirstLastPara="1" wrap="square" lIns="121900" tIns="121900" rIns="121900" bIns="121900" anchor="t" anchorCtr="0">
            <a:normAutofit fontScale="90000"/>
          </a:bodyPr>
          <a:lstStyle/>
          <a:p>
            <a:pPr algn="l"/>
            <a:r>
              <a:rPr lang="vi">
                <a:latin typeface="+mj-lt"/>
              </a:rPr>
              <a:t>Mục lục</a:t>
            </a:r>
            <a:endParaRPr>
              <a:latin typeface="+mj-lt"/>
            </a:endParaRPr>
          </a:p>
        </p:txBody>
      </p:sp>
      <p:sp>
        <p:nvSpPr>
          <p:cNvPr id="3" name="Rectangle 2">
            <a:extLst>
              <a:ext uri="{FF2B5EF4-FFF2-40B4-BE49-F238E27FC236}">
                <a16:creationId xmlns:a16="http://schemas.microsoft.com/office/drawing/2014/main" id="{1A50FE88-1A33-E03C-889F-2B29BF406335}"/>
              </a:ext>
            </a:extLst>
          </p:cNvPr>
          <p:cNvSpPr>
            <a:spLocks noChangeArrowheads="1"/>
          </p:cNvSpPr>
          <p:nvPr/>
        </p:nvSpPr>
        <p:spPr bwMode="auto">
          <a:xfrm>
            <a:off x="415600" y="3282605"/>
            <a:ext cx="7432157"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j-lt"/>
              </a:rPr>
              <a:t>CHƯƠNG 2: CƠ SỞ LÝ THUYẾT VÀ CÔNG NGHỆ ÁP DỤNG</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2.1. Lý thuyết lưu vết dữ liệu và các phương pháp hiện nay</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2.1.1. Phương pháp Logical Decoding (WAL)</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2.1.2. Phương pháp sử dụng Extension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2.2. Xử lý lưu trữ đa cấu trúc và Indexing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2.3. Lập trình và bảo mật cấp cơ sở dữ liệu</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2.4. Quản lý dữ liệu lớn</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2.5. Lựa chọn công nghệ triển khai</a:t>
            </a:r>
            <a:endParaRPr kumimoji="0" lang="en-US" altLang="en-US" sz="2000" b="0" i="0" u="none" strike="noStrike" cap="none" normalizeH="0" baseline="0">
              <a:ln>
                <a:noFill/>
              </a:ln>
              <a:solidFill>
                <a:schemeClr val="tx1"/>
              </a:solidFill>
              <a:effectLst/>
              <a:latin typeface="+mj-lt"/>
            </a:endParaRPr>
          </a:p>
        </p:txBody>
      </p:sp>
      <p:sp>
        <p:nvSpPr>
          <p:cNvPr id="6" name="Rectangle 5">
            <a:extLst>
              <a:ext uri="{FF2B5EF4-FFF2-40B4-BE49-F238E27FC236}">
                <a16:creationId xmlns:a16="http://schemas.microsoft.com/office/drawing/2014/main" id="{63F50ED7-98AD-1CD2-2E00-68DB67A5B34B}"/>
              </a:ext>
            </a:extLst>
          </p:cNvPr>
          <p:cNvSpPr>
            <a:spLocks noChangeArrowheads="1"/>
          </p:cNvSpPr>
          <p:nvPr/>
        </p:nvSpPr>
        <p:spPr bwMode="auto">
          <a:xfrm>
            <a:off x="415600" y="1035836"/>
            <a:ext cx="486971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rPr>
              <a:t>CHƯƠNG 1: TỔNG QUAN ĐỀ TÀI</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Arial" panose="020B0604020202020204" pitchFamily="34" charset="0"/>
              </a:rPr>
              <a:t>1.1. Đặt vấn đề và tính cấp thiết</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Arial" panose="020B0604020202020204" pitchFamily="34" charset="0"/>
              </a:rPr>
              <a:t>1.2. Mục tiêu nghiên cứu</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Arial" panose="020B0604020202020204" pitchFamily="34" charset="0"/>
              </a:rPr>
              <a:t>1.3. Đối tượng và phạm vi nghiên cứu</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Arial" panose="020B0604020202020204" pitchFamily="34" charset="0"/>
              </a:rPr>
              <a:t>1.4. Cấu trúc của tài liệu</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8C604A63-E9B4-02C2-57A7-C3AE0DF7D045}"/>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3C466F51-A7FF-845D-32BB-1D8DA5524138}"/>
              </a:ext>
            </a:extLst>
          </p:cNvPr>
          <p:cNvSpPr>
            <a:spLocks noChangeArrowheads="1"/>
          </p:cNvSpPr>
          <p:nvPr/>
        </p:nvSpPr>
        <p:spPr bwMode="auto">
          <a:xfrm>
            <a:off x="487325" y="171424"/>
            <a:ext cx="11217350"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j-lt"/>
              </a:rPr>
              <a:t>CHƯƠNG 3: THIẾT KẾ MÔ HÌNH VÀ CẤU TRÚC LƯU TRỮ DỮ LIỆU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3.1. Phân tích kiến trúc hệ thống tổng quan</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3.2. Thiết kế mô hình dữ liệu lõi</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3.2.1. Cấu trúc lưu trữ Audit Log Schema-less bằng JSONB</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3.2.2. Thiết kế bảng dữ liệu giả lập nghiệp vụ</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3.3. Phân tích đánh đổi (Trade-offs) trong thiết kế</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3.3.1. Tính linh hoạt của JSONB so với chi phí Storage.</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3.3.2. Ưu điểm tự động hóa của Trigger so với sự gia tăng Latency.</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3.3.3. Quản lý vòng đời dữ liệu của Partitioning so với độ trễ khi quét chéo phân mảnh.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mj-lt"/>
            </a:endParaRPr>
          </a:p>
        </p:txBody>
      </p:sp>
      <p:sp>
        <p:nvSpPr>
          <p:cNvPr id="5" name="Rectangle 2">
            <a:extLst>
              <a:ext uri="{FF2B5EF4-FFF2-40B4-BE49-F238E27FC236}">
                <a16:creationId xmlns:a16="http://schemas.microsoft.com/office/drawing/2014/main" id="{013647F2-91CB-599B-5F19-9E7E47539DF9}"/>
              </a:ext>
            </a:extLst>
          </p:cNvPr>
          <p:cNvSpPr>
            <a:spLocks noChangeArrowheads="1"/>
          </p:cNvSpPr>
          <p:nvPr/>
        </p:nvSpPr>
        <p:spPr bwMode="auto">
          <a:xfrm>
            <a:off x="487325" y="3373128"/>
            <a:ext cx="12727172"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j-lt"/>
              </a:rPr>
              <a:t>CHƯƠNG 4: TRIỂN KHAI NGHIỆP VỤ VÀ QUẢN LÝ VÒNG ĐỜI DỮ LIỆU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4.1. Tự động hóa quá trình ghi Log</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4.1.1. Xây dựng các Dynamic Triggers (AFTER ROW).</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4.1.2. Phát triển Generic Functions bằng PL/pgSQL</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4.2. Tối ưu hiệu năng xử lý đồng thời</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4.3. Quản lý vòng đời dữ liệu (Data Lifecycle)</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4.3.1. Thiết lập mức Retention lưu trữ</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4.3.2. Cơ chế Drop partition và luân chuyển phân cấp (Archive) sang S3/HDD để giải phóng tài nguyên.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2674058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3" name="Rectangle 2">
            <a:extLst>
              <a:ext uri="{FF2B5EF4-FFF2-40B4-BE49-F238E27FC236}">
                <a16:creationId xmlns:a16="http://schemas.microsoft.com/office/drawing/2014/main" id="{122969DC-D083-3C80-8784-3087EBFEB701}"/>
              </a:ext>
            </a:extLst>
          </p:cNvPr>
          <p:cNvSpPr>
            <a:spLocks noChangeArrowheads="1"/>
          </p:cNvSpPr>
          <p:nvPr/>
        </p:nvSpPr>
        <p:spPr bwMode="auto">
          <a:xfrm>
            <a:off x="668079" y="213100"/>
            <a:ext cx="10855842" cy="2508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a:latin typeface="+mj-lt"/>
              </a:rPr>
              <a:t>CHƯƠNG 5: BẢO MẬT, TỐI ƯU HÓA VÀ QUẢN TRỊ DỮ LIỆU LỚN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a:latin typeface="+mj-lt"/>
            </a:endParaRPr>
          </a:p>
          <a:p>
            <a:pPr marL="0" marR="0" lvl="0" indent="0" algn="l" defTabSz="914400" rtl="0" eaLnBrk="0" fontAlgn="base" latinLnBrk="0" hangingPunct="0">
              <a:lnSpc>
                <a:spcPct val="100000"/>
              </a:lnSpc>
              <a:spcBef>
                <a:spcPct val="0"/>
              </a:spcBef>
              <a:spcAft>
                <a:spcPct val="0"/>
              </a:spcAft>
              <a:buClrTx/>
              <a:buSzTx/>
              <a:tabLst/>
            </a:pPr>
            <a:r>
              <a:rPr lang="en-US" altLang="en-US" sz="2000" b="1">
                <a:latin typeface="+mj-lt"/>
              </a:rPr>
              <a:t>5.1. Triển khai phân quyền và kiểm soát truy cập</a:t>
            </a:r>
          </a:p>
          <a:p>
            <a:pPr marL="0" marR="0" lvl="0" indent="0" algn="l" defTabSz="914400" rtl="0" eaLnBrk="0" fontAlgn="base" latinLnBrk="0" hangingPunct="0">
              <a:lnSpc>
                <a:spcPct val="100000"/>
              </a:lnSpc>
              <a:spcBef>
                <a:spcPct val="0"/>
              </a:spcBef>
              <a:spcAft>
                <a:spcPct val="0"/>
              </a:spcAft>
              <a:buClrTx/>
              <a:buSzTx/>
              <a:tabLst/>
            </a:pPr>
            <a:r>
              <a:rPr lang="en-US" altLang="en-US" sz="2000" b="1">
                <a:latin typeface="+mj-lt"/>
              </a:rPr>
              <a:t>5.2. Quản lý an toàn và bất biến dữ liệu (Immutability)</a:t>
            </a:r>
          </a:p>
          <a:p>
            <a:pPr marL="0" marR="0" lvl="0" indent="0" algn="l" defTabSz="914400" rtl="0" eaLnBrk="0" fontAlgn="base" latinLnBrk="0" hangingPunct="0">
              <a:lnSpc>
                <a:spcPct val="100000"/>
              </a:lnSpc>
              <a:spcBef>
                <a:spcPct val="0"/>
              </a:spcBef>
              <a:spcAft>
                <a:spcPct val="0"/>
              </a:spcAft>
              <a:buClrTx/>
              <a:buSzTx/>
              <a:tabLst/>
            </a:pPr>
            <a:r>
              <a:rPr lang="en-US" altLang="en-US" sz="2000" b="1">
                <a:latin typeface="+mj-lt"/>
              </a:rPr>
              <a:t>	</a:t>
            </a:r>
            <a:r>
              <a:rPr lang="en-US" altLang="en-US" sz="2000">
                <a:latin typeface="+mj-lt"/>
              </a:rPr>
              <a:t>5.2.1. Thiết lập Trigger chặn chiều DELETE/UPDATE</a:t>
            </a:r>
          </a:p>
          <a:p>
            <a:pPr marL="0" marR="0" lvl="0" indent="0" algn="l" defTabSz="914400" rtl="0" eaLnBrk="0" fontAlgn="base" latinLnBrk="0" hangingPunct="0">
              <a:lnSpc>
                <a:spcPct val="100000"/>
              </a:lnSpc>
              <a:spcBef>
                <a:spcPct val="0"/>
              </a:spcBef>
              <a:spcAft>
                <a:spcPct val="0"/>
              </a:spcAft>
              <a:buClrTx/>
              <a:buSzTx/>
              <a:tabLst/>
            </a:pPr>
            <a:r>
              <a:rPr lang="en-US" altLang="en-US" sz="2000">
                <a:latin typeface="+mj-lt"/>
              </a:rPr>
              <a:t>	5.2.2. Xây dựng cơ chế chống giả mạo (Tamper-evident logging) thông qua chuỗi băm </a:t>
            </a:r>
          </a:p>
          <a:p>
            <a:pPr marL="0" marR="0" lvl="0" indent="0" algn="l" defTabSz="914400" rtl="0" eaLnBrk="0" fontAlgn="base" latinLnBrk="0" hangingPunct="0">
              <a:lnSpc>
                <a:spcPct val="100000"/>
              </a:lnSpc>
              <a:spcBef>
                <a:spcPct val="0"/>
              </a:spcBef>
              <a:spcAft>
                <a:spcPct val="0"/>
              </a:spcAft>
              <a:buClrTx/>
              <a:buSzTx/>
              <a:tabLst/>
            </a:pPr>
            <a:r>
              <a:rPr lang="en-US" altLang="en-US" sz="2000" b="1">
                <a:latin typeface="+mj-lt"/>
              </a:rPr>
              <a:t>5.3. Chiến lược tối ưu hóa truy vấn</a:t>
            </a:r>
            <a:endParaRPr lang="en-US" altLang="en-US" sz="200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a:latin typeface="+mj-lt"/>
            </a:endParaRPr>
          </a:p>
        </p:txBody>
      </p:sp>
      <p:sp>
        <p:nvSpPr>
          <p:cNvPr id="4" name="Rectangle 3">
            <a:extLst>
              <a:ext uri="{FF2B5EF4-FFF2-40B4-BE49-F238E27FC236}">
                <a16:creationId xmlns:a16="http://schemas.microsoft.com/office/drawing/2014/main" id="{5D59B87A-1C94-CF42-59FA-9377B053817F}"/>
              </a:ext>
            </a:extLst>
          </p:cNvPr>
          <p:cNvSpPr>
            <a:spLocks noChangeArrowheads="1"/>
          </p:cNvSpPr>
          <p:nvPr/>
        </p:nvSpPr>
        <p:spPr bwMode="auto">
          <a:xfrm>
            <a:off x="668080" y="2810738"/>
            <a:ext cx="10855842" cy="404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j-lt"/>
              </a:rPr>
              <a:t>CHƯƠNG 6: TÍCH HỢP, KIỂM THỬ VÀ ĐÁNH GIÁ</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6.1. Môi trường và bộ dữ liệu thực nghiệm</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6.1.1. Thiết lập cấu hình hệ thống</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6.1.2. Sinh bộ dữ liệu giả</a:t>
            </a:r>
            <a:r>
              <a:rPr kumimoji="0" lang="en-US" altLang="en-US" sz="2000" b="0" i="0" u="none" strike="noStrike" cap="none" normalizeH="0">
                <a:ln>
                  <a:noFill/>
                </a:ln>
                <a:solidFill>
                  <a:schemeClr val="tx1"/>
                </a:solidFill>
                <a:effectLst/>
                <a:latin typeface="+mj-lt"/>
              </a:rPr>
              <a:t> lập</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6.2. Kịch bản và kết quả kiểm thử</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6.2.1. Kiểm thử hiệu năng (Stress test)</a:t>
            </a:r>
            <a:endParaRPr lang="en-US" altLang="en-US" sz="200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mj-lt"/>
              </a:rPr>
              <a:t>	6.2.2. Kiểm thử mô hình lưu trữ</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6.2.3. Kiểm thử an toàn bảo mật</a:t>
            </a:r>
          </a:p>
          <a:p>
            <a:pPr marL="0" marR="0" lvl="0" indent="0" algn="l" defTabSz="914400" rtl="0" eaLnBrk="0" fontAlgn="base" latinLnBrk="0" hangingPunct="0">
              <a:lnSpc>
                <a:spcPct val="100000"/>
              </a:lnSpc>
              <a:spcBef>
                <a:spcPct val="0"/>
              </a:spcBef>
              <a:spcAft>
                <a:spcPct val="0"/>
              </a:spcAft>
              <a:buClrTx/>
              <a:buSzTx/>
              <a:tabLst/>
            </a:pPr>
            <a:r>
              <a:rPr lang="en-US" altLang="en-US" sz="2000">
                <a:solidFill>
                  <a:schemeClr val="tx1"/>
                </a:solidFill>
                <a:latin typeface="+mj-lt"/>
              </a:rPr>
              <a:t>	</a:t>
            </a:r>
            <a:r>
              <a:rPr kumimoji="0" lang="en-US" altLang="en-US" sz="2000" b="0" i="0" u="none" strike="noStrike" cap="none" normalizeH="0" baseline="0">
                <a:ln>
                  <a:noFill/>
                </a:ln>
                <a:solidFill>
                  <a:schemeClr val="tx1"/>
                </a:solidFill>
                <a:effectLst/>
                <a:latin typeface="+mj-lt"/>
              </a:rPr>
              <a:t>6.2.4. Kiểm thử hiệu năng truy vấn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6.3. Giới hạn của đề tài</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latin typeface="+mj-lt"/>
              </a:rPr>
              <a:t>6.4. Kết luận và Hướng phát triển</a:t>
            </a:r>
            <a:endParaRPr kumimoji="0" lang="en-US" altLang="en-US" sz="2000" b="0"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EFD7B7C8-226A-A795-153D-BE1A3F20AD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9E1317-BDAB-9F30-0081-686078AB7531}"/>
              </a:ext>
            </a:extLst>
          </p:cNvPr>
          <p:cNvSpPr txBox="1"/>
          <p:nvPr/>
        </p:nvSpPr>
        <p:spPr>
          <a:xfrm>
            <a:off x="2421122" y="2613392"/>
            <a:ext cx="7349756" cy="1631216"/>
          </a:xfrm>
          <a:prstGeom prst="rect">
            <a:avLst/>
          </a:prstGeom>
          <a:noFill/>
        </p:spPr>
        <p:txBody>
          <a:bodyPr wrap="square">
            <a:spAutoFit/>
          </a:bodyPr>
          <a:lstStyle/>
          <a:p>
            <a:pPr algn="ctr" rtl="0">
              <a:spcAft>
                <a:spcPts val="1200"/>
              </a:spcAft>
              <a:buNone/>
            </a:pPr>
            <a:r>
              <a:rPr lang="vi-VN" sz="3000" b="1" i="0" u="none" strike="noStrike">
                <a:solidFill>
                  <a:srgbClr val="595959"/>
                </a:solidFill>
                <a:effectLst/>
                <a:latin typeface="Arial" panose="020B0604020202020204" pitchFamily="34" charset="0"/>
              </a:rPr>
              <a:t>Cảm ơn Thầy và các bạn đã lắng nghe</a:t>
            </a:r>
            <a:r>
              <a:rPr lang="en-US" sz="3000" b="1" i="0" u="none" strike="noStrike">
                <a:solidFill>
                  <a:srgbClr val="595959"/>
                </a:solidFill>
                <a:effectLst/>
                <a:latin typeface="Arial" panose="020B0604020202020204" pitchFamily="34" charset="0"/>
              </a:rPr>
              <a:t>!</a:t>
            </a:r>
            <a:endParaRPr lang="vi-VN" sz="3000" b="0">
              <a:effectLst/>
            </a:endParaRPr>
          </a:p>
          <a:p>
            <a:pPr>
              <a:buNone/>
            </a:pPr>
            <a:br>
              <a:rPr lang="vi-VN" sz="3000"/>
            </a:br>
            <a:endParaRPr lang="en-US" sz="3000"/>
          </a:p>
        </p:txBody>
      </p:sp>
    </p:spTree>
    <p:extLst>
      <p:ext uri="{BB962C8B-B14F-4D97-AF65-F5344CB8AC3E}">
        <p14:creationId xmlns:p14="http://schemas.microsoft.com/office/powerpoint/2010/main" val="19716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3FFBF-F81D-8A40-F370-4A7D007942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EBB6C2D-D848-C382-FAC7-989659F18565}"/>
              </a:ext>
            </a:extLst>
          </p:cNvPr>
          <p:cNvSpPr>
            <a:spLocks noGrp="1"/>
          </p:cNvSpPr>
          <p:nvPr>
            <p:ph type="sldNum" sz="quarter" idx="12"/>
          </p:nvPr>
        </p:nvSpPr>
        <p:spPr/>
        <p:txBody>
          <a:bodyPr/>
          <a:lstStyle/>
          <a:p>
            <a:pPr algn="ctr"/>
            <a:fld id="{D8B0B3AC-44A8-D142-AAF6-9A453466E1A4}" type="slidenum">
              <a:rPr lang="en-VN" smtClean="0"/>
              <a:pPr algn="ctr"/>
              <a:t>6</a:t>
            </a:fld>
            <a:endParaRPr lang="en-VN"/>
          </a:p>
        </p:txBody>
      </p:sp>
      <p:sp>
        <p:nvSpPr>
          <p:cNvPr id="11" name="Google Shape;94;p14">
            <a:extLst>
              <a:ext uri="{FF2B5EF4-FFF2-40B4-BE49-F238E27FC236}">
                <a16:creationId xmlns:a16="http://schemas.microsoft.com/office/drawing/2014/main" id="{2BC4E9B4-7B53-619D-FE16-FA5D584D3BC4}"/>
              </a:ext>
            </a:extLst>
          </p:cNvPr>
          <p:cNvSpPr txBox="1"/>
          <p:nvPr/>
        </p:nvSpPr>
        <p:spPr>
          <a:xfrm>
            <a:off x="1111179" y="1184301"/>
            <a:ext cx="473059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j-lt"/>
                <a:ea typeface="Montserrat SemiBold"/>
                <a:cs typeface="Montserrat SemiBold"/>
                <a:sym typeface="Montserrat SemiBold"/>
              </a:rPr>
              <a:t>Giai đoạn 1 &amp; 2: Hạ Tầng &amp; Xử Lý</a:t>
            </a:r>
            <a:endParaRPr>
              <a:latin typeface="+mj-lt"/>
            </a:endParaRPr>
          </a:p>
        </p:txBody>
      </p:sp>
      <p:sp>
        <p:nvSpPr>
          <p:cNvPr id="12" name="Google Shape;95;p14">
            <a:extLst>
              <a:ext uri="{FF2B5EF4-FFF2-40B4-BE49-F238E27FC236}">
                <a16:creationId xmlns:a16="http://schemas.microsoft.com/office/drawing/2014/main" id="{5FFB538F-746C-CEC5-943F-5F839E59B4B3}"/>
              </a:ext>
            </a:extLst>
          </p:cNvPr>
          <p:cNvSpPr/>
          <p:nvPr/>
        </p:nvSpPr>
        <p:spPr>
          <a:xfrm>
            <a:off x="961875" y="1843791"/>
            <a:ext cx="45053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3" name="Google Shape;96;p14">
            <a:extLst>
              <a:ext uri="{FF2B5EF4-FFF2-40B4-BE49-F238E27FC236}">
                <a16:creationId xmlns:a16="http://schemas.microsoft.com/office/drawing/2014/main" id="{E72DE86A-F771-B1FA-BFE8-5093554C0B5B}"/>
              </a:ext>
            </a:extLst>
          </p:cNvPr>
          <p:cNvSpPr txBox="1"/>
          <p:nvPr/>
        </p:nvSpPr>
        <p:spPr>
          <a:xfrm>
            <a:off x="6724500" y="1184300"/>
            <a:ext cx="473059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j-lt"/>
                <a:ea typeface="Montserrat SemiBold"/>
                <a:cs typeface="Montserrat SemiBold"/>
                <a:sym typeface="Montserrat SemiBold"/>
              </a:rPr>
              <a:t>Giai đoạn 3 &amp; 4: Bảo Mật &amp; Đánh Giá</a:t>
            </a:r>
            <a:endParaRPr>
              <a:latin typeface="+mj-lt"/>
            </a:endParaRPr>
          </a:p>
        </p:txBody>
      </p:sp>
      <p:sp>
        <p:nvSpPr>
          <p:cNvPr id="14" name="Google Shape;97;p14">
            <a:extLst>
              <a:ext uri="{FF2B5EF4-FFF2-40B4-BE49-F238E27FC236}">
                <a16:creationId xmlns:a16="http://schemas.microsoft.com/office/drawing/2014/main" id="{265B0DEB-16FE-5FF5-ED18-EE2FD01EB7A6}"/>
              </a:ext>
            </a:extLst>
          </p:cNvPr>
          <p:cNvSpPr/>
          <p:nvPr/>
        </p:nvSpPr>
        <p:spPr>
          <a:xfrm>
            <a:off x="6724500" y="1852596"/>
            <a:ext cx="45053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j-lt"/>
              <a:ea typeface="Calibri"/>
              <a:cs typeface="Calibri"/>
              <a:sym typeface="Calibri"/>
            </a:endParaRPr>
          </a:p>
        </p:txBody>
      </p:sp>
      <p:sp>
        <p:nvSpPr>
          <p:cNvPr id="15" name="Google Shape;98;p14">
            <a:extLst>
              <a:ext uri="{FF2B5EF4-FFF2-40B4-BE49-F238E27FC236}">
                <a16:creationId xmlns:a16="http://schemas.microsoft.com/office/drawing/2014/main" id="{6F99521E-2D24-B311-8356-9EC5119971C8}"/>
              </a:ext>
            </a:extLst>
          </p:cNvPr>
          <p:cNvSpPr txBox="1"/>
          <p:nvPr/>
        </p:nvSpPr>
        <p:spPr>
          <a:xfrm>
            <a:off x="1247625" y="2056368"/>
            <a:ext cx="42195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mj-lt"/>
                <a:ea typeface="Open Sans"/>
                <a:cs typeface="Open Sans"/>
                <a:sym typeface="Open Sans"/>
              </a:rPr>
              <a:t>1. Xây dựng Kiến trúc Lưu trữ</a:t>
            </a:r>
            <a:endParaRPr>
              <a:latin typeface="+mj-lt"/>
            </a:endParaRPr>
          </a:p>
        </p:txBody>
      </p:sp>
      <p:sp>
        <p:nvSpPr>
          <p:cNvPr id="16" name="Google Shape;99;p14">
            <a:extLst>
              <a:ext uri="{FF2B5EF4-FFF2-40B4-BE49-F238E27FC236}">
                <a16:creationId xmlns:a16="http://schemas.microsoft.com/office/drawing/2014/main" id="{D9737987-8FD6-6A75-0D55-F85C9EF2F612}"/>
              </a:ext>
            </a:extLst>
          </p:cNvPr>
          <p:cNvSpPr txBox="1"/>
          <p:nvPr/>
        </p:nvSpPr>
        <p:spPr>
          <a:xfrm>
            <a:off x="1247625" y="3541339"/>
            <a:ext cx="42195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mj-lt"/>
                <a:ea typeface="Open Sans"/>
                <a:cs typeface="Open Sans"/>
                <a:sym typeface="Open Sans"/>
              </a:rPr>
              <a:t>2. Phát triển Logic Ghi Log</a:t>
            </a:r>
            <a:endParaRPr>
              <a:latin typeface="+mj-lt"/>
            </a:endParaRPr>
          </a:p>
        </p:txBody>
      </p:sp>
      <p:sp>
        <p:nvSpPr>
          <p:cNvPr id="17" name="Google Shape;100;p14">
            <a:extLst>
              <a:ext uri="{FF2B5EF4-FFF2-40B4-BE49-F238E27FC236}">
                <a16:creationId xmlns:a16="http://schemas.microsoft.com/office/drawing/2014/main" id="{16BDA2D7-526E-88C5-1CC2-AFB7D8AA52D3}"/>
              </a:ext>
            </a:extLst>
          </p:cNvPr>
          <p:cNvSpPr txBox="1"/>
          <p:nvPr/>
        </p:nvSpPr>
        <p:spPr>
          <a:xfrm>
            <a:off x="7010250" y="2059061"/>
            <a:ext cx="42195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mj-lt"/>
                <a:ea typeface="Open Sans"/>
                <a:cs typeface="Open Sans"/>
                <a:sym typeface="Open Sans"/>
              </a:rPr>
              <a:t>3. Tích hợp Lớp Bảo mật</a:t>
            </a:r>
            <a:endParaRPr>
              <a:latin typeface="+mj-lt"/>
            </a:endParaRPr>
          </a:p>
        </p:txBody>
      </p:sp>
      <p:sp>
        <p:nvSpPr>
          <p:cNvPr id="18" name="Google Shape;101;p14">
            <a:extLst>
              <a:ext uri="{FF2B5EF4-FFF2-40B4-BE49-F238E27FC236}">
                <a16:creationId xmlns:a16="http://schemas.microsoft.com/office/drawing/2014/main" id="{46774B23-78C8-4B21-ED35-CD28F21C0B12}"/>
              </a:ext>
            </a:extLst>
          </p:cNvPr>
          <p:cNvSpPr txBox="1"/>
          <p:nvPr/>
        </p:nvSpPr>
        <p:spPr>
          <a:xfrm>
            <a:off x="7010250" y="4221711"/>
            <a:ext cx="42195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mj-lt"/>
                <a:ea typeface="Open Sans"/>
                <a:cs typeface="Open Sans"/>
                <a:sym typeface="Open Sans"/>
              </a:rPr>
              <a:t>4. Triển khai Thực nghiệm</a:t>
            </a:r>
            <a:endParaRPr>
              <a:latin typeface="+mj-lt"/>
            </a:endParaRPr>
          </a:p>
        </p:txBody>
      </p:sp>
      <p:pic>
        <p:nvPicPr>
          <p:cNvPr id="19" name="Google Shape;102;p14" descr="image.png">
            <a:extLst>
              <a:ext uri="{FF2B5EF4-FFF2-40B4-BE49-F238E27FC236}">
                <a16:creationId xmlns:a16="http://schemas.microsoft.com/office/drawing/2014/main" id="{1F26DF76-2708-DF58-9315-D811E13B7982}"/>
              </a:ext>
            </a:extLst>
          </p:cNvPr>
          <p:cNvPicPr preferRelativeResize="0"/>
          <p:nvPr/>
        </p:nvPicPr>
        <p:blipFill rotWithShape="1">
          <a:blip r:embed="rId2">
            <a:alphaModFix/>
          </a:blip>
          <a:srcRect/>
          <a:stretch/>
        </p:blipFill>
        <p:spPr>
          <a:xfrm>
            <a:off x="6743868" y="2124699"/>
            <a:ext cx="95250" cy="200025"/>
          </a:xfrm>
          <a:prstGeom prst="rect">
            <a:avLst/>
          </a:prstGeom>
          <a:noFill/>
          <a:ln>
            <a:noFill/>
          </a:ln>
        </p:spPr>
      </p:pic>
      <p:pic>
        <p:nvPicPr>
          <p:cNvPr id="20" name="Google Shape;103;p14" descr="image.png">
            <a:extLst>
              <a:ext uri="{FF2B5EF4-FFF2-40B4-BE49-F238E27FC236}">
                <a16:creationId xmlns:a16="http://schemas.microsoft.com/office/drawing/2014/main" id="{FBA31781-FEF0-C3DF-27C5-0EB17B50513F}"/>
              </a:ext>
            </a:extLst>
          </p:cNvPr>
          <p:cNvPicPr preferRelativeResize="0"/>
          <p:nvPr/>
        </p:nvPicPr>
        <p:blipFill rotWithShape="1">
          <a:blip r:embed="rId2">
            <a:alphaModFix/>
          </a:blip>
          <a:srcRect/>
          <a:stretch/>
        </p:blipFill>
        <p:spPr>
          <a:xfrm>
            <a:off x="6743868" y="4303050"/>
            <a:ext cx="95250" cy="200025"/>
          </a:xfrm>
          <a:prstGeom prst="rect">
            <a:avLst/>
          </a:prstGeom>
          <a:noFill/>
          <a:ln>
            <a:noFill/>
          </a:ln>
        </p:spPr>
      </p:pic>
      <p:sp>
        <p:nvSpPr>
          <p:cNvPr id="21" name="Google Shape;104;p14">
            <a:extLst>
              <a:ext uri="{FF2B5EF4-FFF2-40B4-BE49-F238E27FC236}">
                <a16:creationId xmlns:a16="http://schemas.microsoft.com/office/drawing/2014/main" id="{F24B3120-7490-F06E-54A9-313832E51ADA}"/>
              </a:ext>
            </a:extLst>
          </p:cNvPr>
          <p:cNvSpPr txBox="1"/>
          <p:nvPr/>
        </p:nvSpPr>
        <p:spPr>
          <a:xfrm>
            <a:off x="1485750" y="3113495"/>
            <a:ext cx="398145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Lập lịch tự động quản lý vòng đời: Drop/Archive &gt; 6 tháng.</a:t>
            </a:r>
            <a:endParaRPr>
              <a:latin typeface="+mj-lt"/>
            </a:endParaRPr>
          </a:p>
        </p:txBody>
      </p:sp>
      <p:sp>
        <p:nvSpPr>
          <p:cNvPr id="22" name="Google Shape;105;p14">
            <a:extLst>
              <a:ext uri="{FF2B5EF4-FFF2-40B4-BE49-F238E27FC236}">
                <a16:creationId xmlns:a16="http://schemas.microsoft.com/office/drawing/2014/main" id="{92BBBDE4-5593-F9DC-F498-8EEFDA5B8EB2}"/>
              </a:ext>
            </a:extLst>
          </p:cNvPr>
          <p:cNvSpPr txBox="1"/>
          <p:nvPr/>
        </p:nvSpPr>
        <p:spPr>
          <a:xfrm>
            <a:off x="1485750" y="3910879"/>
            <a:ext cx="398145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Lập trình các Generic Functions cốt lõi bằng PL/pgSQL.</a:t>
            </a:r>
            <a:endParaRPr>
              <a:latin typeface="+mj-lt"/>
            </a:endParaRPr>
          </a:p>
        </p:txBody>
      </p:sp>
      <p:sp>
        <p:nvSpPr>
          <p:cNvPr id="23" name="Google Shape;106;p14">
            <a:extLst>
              <a:ext uri="{FF2B5EF4-FFF2-40B4-BE49-F238E27FC236}">
                <a16:creationId xmlns:a16="http://schemas.microsoft.com/office/drawing/2014/main" id="{C12875AB-923D-677A-6B34-D8EFF0F4578F}"/>
              </a:ext>
            </a:extLst>
          </p:cNvPr>
          <p:cNvSpPr txBox="1"/>
          <p:nvPr/>
        </p:nvSpPr>
        <p:spPr>
          <a:xfrm>
            <a:off x="1485750" y="4259434"/>
            <a:ext cx="398145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Đính kèm Dynamic Triggers (AFTER ROW) vào Business Tables.</a:t>
            </a:r>
            <a:endParaRPr>
              <a:latin typeface="+mj-lt"/>
            </a:endParaRPr>
          </a:p>
        </p:txBody>
      </p:sp>
      <p:sp>
        <p:nvSpPr>
          <p:cNvPr id="24" name="Google Shape;107;p14">
            <a:extLst>
              <a:ext uri="{FF2B5EF4-FFF2-40B4-BE49-F238E27FC236}">
                <a16:creationId xmlns:a16="http://schemas.microsoft.com/office/drawing/2014/main" id="{DC1C9AF9-C7AF-4C05-BB17-0FAD998E6781}"/>
              </a:ext>
            </a:extLst>
          </p:cNvPr>
          <p:cNvSpPr txBox="1"/>
          <p:nvPr/>
        </p:nvSpPr>
        <p:spPr>
          <a:xfrm>
            <a:off x="1485750" y="4842245"/>
            <a:ext cx="398145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Tối ưu hóa độ trễ (Overhead), tránh tắc nghẽn Blocking I/O.</a:t>
            </a:r>
            <a:endParaRPr>
              <a:latin typeface="+mj-lt"/>
            </a:endParaRPr>
          </a:p>
        </p:txBody>
      </p:sp>
      <p:sp>
        <p:nvSpPr>
          <p:cNvPr id="25" name="Google Shape;108;p14">
            <a:extLst>
              <a:ext uri="{FF2B5EF4-FFF2-40B4-BE49-F238E27FC236}">
                <a16:creationId xmlns:a16="http://schemas.microsoft.com/office/drawing/2014/main" id="{3EE25725-99D9-E136-B20B-F847D4FA5C2F}"/>
              </a:ext>
            </a:extLst>
          </p:cNvPr>
          <p:cNvSpPr txBox="1"/>
          <p:nvPr/>
        </p:nvSpPr>
        <p:spPr>
          <a:xfrm>
            <a:off x="7248375" y="3396697"/>
            <a:ext cx="398145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Cài đặt thuật toán Hash Chaining ngăn chặn giả mạo dữ liệu.</a:t>
            </a:r>
            <a:endParaRPr>
              <a:latin typeface="+mj-lt"/>
            </a:endParaRPr>
          </a:p>
        </p:txBody>
      </p:sp>
      <p:sp>
        <p:nvSpPr>
          <p:cNvPr id="26" name="Google Shape;109;p14">
            <a:extLst>
              <a:ext uri="{FF2B5EF4-FFF2-40B4-BE49-F238E27FC236}">
                <a16:creationId xmlns:a16="http://schemas.microsoft.com/office/drawing/2014/main" id="{56159D29-2BD1-BD1C-077A-8C8554DB1A2C}"/>
              </a:ext>
            </a:extLst>
          </p:cNvPr>
          <p:cNvSpPr txBox="1"/>
          <p:nvPr/>
        </p:nvSpPr>
        <p:spPr>
          <a:xfrm>
            <a:off x="7248375" y="5174062"/>
            <a:ext cx="4206716"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Benchmark hiệu năng (TPS, Latency) qua công cụ pgbench.</a:t>
            </a:r>
            <a:endParaRPr>
              <a:latin typeface="+mj-lt"/>
            </a:endParaRPr>
          </a:p>
        </p:txBody>
      </p:sp>
      <p:sp>
        <p:nvSpPr>
          <p:cNvPr id="27" name="Google Shape;110;p14">
            <a:extLst>
              <a:ext uri="{FF2B5EF4-FFF2-40B4-BE49-F238E27FC236}">
                <a16:creationId xmlns:a16="http://schemas.microsoft.com/office/drawing/2014/main" id="{88A912B7-D4FC-EDF1-AB6C-EFFFD4655EC1}"/>
              </a:ext>
            </a:extLst>
          </p:cNvPr>
          <p:cNvSpPr txBox="1"/>
          <p:nvPr/>
        </p:nvSpPr>
        <p:spPr>
          <a:xfrm>
            <a:off x="7248374" y="5577581"/>
            <a:ext cx="420671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Nghiệm thu toàn diện 4 kịch bản lõi và xuất báo cáo kết quả.</a:t>
            </a:r>
            <a:endParaRPr>
              <a:latin typeface="+mj-lt"/>
            </a:endParaRPr>
          </a:p>
        </p:txBody>
      </p:sp>
      <p:pic>
        <p:nvPicPr>
          <p:cNvPr id="28" name="Google Shape;112;p14" descr="image.png">
            <a:extLst>
              <a:ext uri="{FF2B5EF4-FFF2-40B4-BE49-F238E27FC236}">
                <a16:creationId xmlns:a16="http://schemas.microsoft.com/office/drawing/2014/main" id="{10E11320-7A36-BE8E-FB8B-EB1C6CE92C2B}"/>
              </a:ext>
            </a:extLst>
          </p:cNvPr>
          <p:cNvPicPr preferRelativeResize="0"/>
          <p:nvPr/>
        </p:nvPicPr>
        <p:blipFill rotWithShape="1">
          <a:blip r:embed="rId2">
            <a:alphaModFix/>
          </a:blip>
          <a:srcRect/>
          <a:stretch/>
        </p:blipFill>
        <p:spPr>
          <a:xfrm>
            <a:off x="961875" y="2120016"/>
            <a:ext cx="95250" cy="200025"/>
          </a:xfrm>
          <a:prstGeom prst="rect">
            <a:avLst/>
          </a:prstGeom>
          <a:noFill/>
          <a:ln>
            <a:noFill/>
          </a:ln>
        </p:spPr>
      </p:pic>
      <p:pic>
        <p:nvPicPr>
          <p:cNvPr id="29" name="Google Shape;113;p14" descr="image.png">
            <a:extLst>
              <a:ext uri="{FF2B5EF4-FFF2-40B4-BE49-F238E27FC236}">
                <a16:creationId xmlns:a16="http://schemas.microsoft.com/office/drawing/2014/main" id="{25A07210-B534-8477-64F1-0077A7B6A347}"/>
              </a:ext>
            </a:extLst>
          </p:cNvPr>
          <p:cNvPicPr preferRelativeResize="0"/>
          <p:nvPr/>
        </p:nvPicPr>
        <p:blipFill rotWithShape="1">
          <a:blip r:embed="rId2">
            <a:alphaModFix/>
          </a:blip>
          <a:srcRect/>
          <a:stretch/>
        </p:blipFill>
        <p:spPr>
          <a:xfrm>
            <a:off x="961875" y="3607525"/>
            <a:ext cx="95250" cy="200025"/>
          </a:xfrm>
          <a:prstGeom prst="rect">
            <a:avLst/>
          </a:prstGeom>
          <a:noFill/>
          <a:ln>
            <a:noFill/>
          </a:ln>
        </p:spPr>
      </p:pic>
      <p:sp>
        <p:nvSpPr>
          <p:cNvPr id="30" name="Google Shape;114;p14">
            <a:extLst>
              <a:ext uri="{FF2B5EF4-FFF2-40B4-BE49-F238E27FC236}">
                <a16:creationId xmlns:a16="http://schemas.microsoft.com/office/drawing/2014/main" id="{098423BD-20DB-718B-A3F7-42A77F701891}"/>
              </a:ext>
            </a:extLst>
          </p:cNvPr>
          <p:cNvSpPr txBox="1"/>
          <p:nvPr/>
        </p:nvSpPr>
        <p:spPr>
          <a:xfrm>
            <a:off x="1485750" y="2425909"/>
            <a:ext cx="398145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Thiết kế bảng Audit Logs chuyên dụng bằng JSONB.</a:t>
            </a:r>
            <a:endParaRPr>
              <a:latin typeface="+mj-lt"/>
            </a:endParaRPr>
          </a:p>
        </p:txBody>
      </p:sp>
      <p:sp>
        <p:nvSpPr>
          <p:cNvPr id="31" name="Google Shape;115;p14">
            <a:extLst>
              <a:ext uri="{FF2B5EF4-FFF2-40B4-BE49-F238E27FC236}">
                <a16:creationId xmlns:a16="http://schemas.microsoft.com/office/drawing/2014/main" id="{1BE4D52C-E5B8-9945-DA89-BC742EC3CE9C}"/>
              </a:ext>
            </a:extLst>
          </p:cNvPr>
          <p:cNvSpPr txBox="1"/>
          <p:nvPr/>
        </p:nvSpPr>
        <p:spPr>
          <a:xfrm>
            <a:off x="1485750" y="2774464"/>
            <a:ext cx="398145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Khai báo cấu trúc Time-based Declarative Partitioning.</a:t>
            </a:r>
            <a:endParaRPr>
              <a:latin typeface="+mj-lt"/>
            </a:endParaRPr>
          </a:p>
        </p:txBody>
      </p:sp>
      <p:sp>
        <p:nvSpPr>
          <p:cNvPr id="32" name="Google Shape;116;p14">
            <a:extLst>
              <a:ext uri="{FF2B5EF4-FFF2-40B4-BE49-F238E27FC236}">
                <a16:creationId xmlns:a16="http://schemas.microsoft.com/office/drawing/2014/main" id="{9F0BD472-28DB-03C3-EE1E-5FF1FFBC94B5}"/>
              </a:ext>
            </a:extLst>
          </p:cNvPr>
          <p:cNvSpPr txBox="1"/>
          <p:nvPr/>
        </p:nvSpPr>
        <p:spPr>
          <a:xfrm>
            <a:off x="7248375" y="2428602"/>
            <a:ext cx="398145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Thiết lập mô hình SECURITY DEFINER phân quyền ủy thác.</a:t>
            </a:r>
            <a:endParaRPr>
              <a:latin typeface="+mj-lt"/>
            </a:endParaRPr>
          </a:p>
        </p:txBody>
      </p:sp>
      <p:sp>
        <p:nvSpPr>
          <p:cNvPr id="33" name="Google Shape;117;p14">
            <a:extLst>
              <a:ext uri="{FF2B5EF4-FFF2-40B4-BE49-F238E27FC236}">
                <a16:creationId xmlns:a16="http://schemas.microsoft.com/office/drawing/2014/main" id="{726DBCAA-4566-4099-5A4B-BADBD6941087}"/>
              </a:ext>
            </a:extLst>
          </p:cNvPr>
          <p:cNvSpPr txBox="1"/>
          <p:nvPr/>
        </p:nvSpPr>
        <p:spPr>
          <a:xfrm>
            <a:off x="7248374" y="3020938"/>
            <a:ext cx="437197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Xây dựng tính bất biến (Immutability): Chặn UPDATE/DELETE.</a:t>
            </a:r>
            <a:endParaRPr>
              <a:latin typeface="+mj-lt"/>
            </a:endParaRPr>
          </a:p>
        </p:txBody>
      </p:sp>
      <p:sp>
        <p:nvSpPr>
          <p:cNvPr id="34" name="Google Shape;118;p14">
            <a:extLst>
              <a:ext uri="{FF2B5EF4-FFF2-40B4-BE49-F238E27FC236}">
                <a16:creationId xmlns:a16="http://schemas.microsoft.com/office/drawing/2014/main" id="{230DD5AC-0106-648F-4154-4EBE66A142BD}"/>
              </a:ext>
            </a:extLst>
          </p:cNvPr>
          <p:cNvSpPr txBox="1"/>
          <p:nvPr/>
        </p:nvSpPr>
        <p:spPr>
          <a:xfrm>
            <a:off x="7248375" y="4591251"/>
            <a:ext cx="398145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Dựng môi trường PostgreSQL 16 &amp; sinh bộ dữ liệu Mock Data.</a:t>
            </a:r>
            <a:endParaRPr>
              <a:latin typeface="+mj-lt"/>
            </a:endParaRPr>
          </a:p>
        </p:txBody>
      </p:sp>
      <p:pic>
        <p:nvPicPr>
          <p:cNvPr id="35" name="Google Shape;119;p14" descr="image.png">
            <a:extLst>
              <a:ext uri="{FF2B5EF4-FFF2-40B4-BE49-F238E27FC236}">
                <a16:creationId xmlns:a16="http://schemas.microsoft.com/office/drawing/2014/main" id="{542604AD-B227-592D-9E09-0C632C2EFB35}"/>
              </a:ext>
            </a:extLst>
          </p:cNvPr>
          <p:cNvPicPr preferRelativeResize="0"/>
          <p:nvPr/>
        </p:nvPicPr>
        <p:blipFill rotWithShape="1">
          <a:blip r:embed="rId3">
            <a:alphaModFix/>
          </a:blip>
          <a:srcRect/>
          <a:stretch/>
        </p:blipFill>
        <p:spPr>
          <a:xfrm>
            <a:off x="1247625" y="2527657"/>
            <a:ext cx="95250" cy="95250"/>
          </a:xfrm>
          <a:prstGeom prst="rect">
            <a:avLst/>
          </a:prstGeom>
          <a:noFill/>
          <a:ln>
            <a:noFill/>
          </a:ln>
        </p:spPr>
      </p:pic>
      <p:pic>
        <p:nvPicPr>
          <p:cNvPr id="36" name="Google Shape;120;p14" descr="image.png">
            <a:extLst>
              <a:ext uri="{FF2B5EF4-FFF2-40B4-BE49-F238E27FC236}">
                <a16:creationId xmlns:a16="http://schemas.microsoft.com/office/drawing/2014/main" id="{3E77DAA9-643D-0DFF-0023-535A286EEB56}"/>
              </a:ext>
            </a:extLst>
          </p:cNvPr>
          <p:cNvPicPr preferRelativeResize="0"/>
          <p:nvPr/>
        </p:nvPicPr>
        <p:blipFill rotWithShape="1">
          <a:blip r:embed="rId3">
            <a:alphaModFix/>
          </a:blip>
          <a:srcRect/>
          <a:stretch/>
        </p:blipFill>
        <p:spPr>
          <a:xfrm>
            <a:off x="1247625" y="2831614"/>
            <a:ext cx="95250" cy="95250"/>
          </a:xfrm>
          <a:prstGeom prst="rect">
            <a:avLst/>
          </a:prstGeom>
          <a:noFill/>
          <a:ln>
            <a:noFill/>
          </a:ln>
        </p:spPr>
      </p:pic>
      <p:pic>
        <p:nvPicPr>
          <p:cNvPr id="37" name="Google Shape;121;p14" descr="image.png">
            <a:extLst>
              <a:ext uri="{FF2B5EF4-FFF2-40B4-BE49-F238E27FC236}">
                <a16:creationId xmlns:a16="http://schemas.microsoft.com/office/drawing/2014/main" id="{6EB48EAE-077F-1DF7-42BD-98C0097C5BB1}"/>
              </a:ext>
            </a:extLst>
          </p:cNvPr>
          <p:cNvPicPr preferRelativeResize="0"/>
          <p:nvPr/>
        </p:nvPicPr>
        <p:blipFill rotWithShape="1">
          <a:blip r:embed="rId3">
            <a:alphaModFix/>
          </a:blip>
          <a:srcRect/>
          <a:stretch/>
        </p:blipFill>
        <p:spPr>
          <a:xfrm>
            <a:off x="1247625" y="3215243"/>
            <a:ext cx="95250" cy="95250"/>
          </a:xfrm>
          <a:prstGeom prst="rect">
            <a:avLst/>
          </a:prstGeom>
          <a:noFill/>
          <a:ln>
            <a:noFill/>
          </a:ln>
        </p:spPr>
      </p:pic>
      <p:pic>
        <p:nvPicPr>
          <p:cNvPr id="38" name="Google Shape;122;p14" descr="image.png">
            <a:extLst>
              <a:ext uri="{FF2B5EF4-FFF2-40B4-BE49-F238E27FC236}">
                <a16:creationId xmlns:a16="http://schemas.microsoft.com/office/drawing/2014/main" id="{69B2CBC5-3D4D-D291-9A7F-829E879FE55B}"/>
              </a:ext>
            </a:extLst>
          </p:cNvPr>
          <p:cNvPicPr preferRelativeResize="0"/>
          <p:nvPr/>
        </p:nvPicPr>
        <p:blipFill rotWithShape="1">
          <a:blip r:embed="rId3">
            <a:alphaModFix/>
          </a:blip>
          <a:srcRect/>
          <a:stretch/>
        </p:blipFill>
        <p:spPr>
          <a:xfrm>
            <a:off x="1247625" y="3968029"/>
            <a:ext cx="95250" cy="95250"/>
          </a:xfrm>
          <a:prstGeom prst="rect">
            <a:avLst/>
          </a:prstGeom>
          <a:noFill/>
          <a:ln>
            <a:noFill/>
          </a:ln>
        </p:spPr>
      </p:pic>
      <p:pic>
        <p:nvPicPr>
          <p:cNvPr id="39" name="Google Shape;123;p14" descr="image.png">
            <a:extLst>
              <a:ext uri="{FF2B5EF4-FFF2-40B4-BE49-F238E27FC236}">
                <a16:creationId xmlns:a16="http://schemas.microsoft.com/office/drawing/2014/main" id="{8829C041-7484-098F-2E66-413F6725421C}"/>
              </a:ext>
            </a:extLst>
          </p:cNvPr>
          <p:cNvPicPr preferRelativeResize="0"/>
          <p:nvPr/>
        </p:nvPicPr>
        <p:blipFill rotWithShape="1">
          <a:blip r:embed="rId3">
            <a:alphaModFix/>
          </a:blip>
          <a:srcRect/>
          <a:stretch/>
        </p:blipFill>
        <p:spPr>
          <a:xfrm>
            <a:off x="1247625" y="4392963"/>
            <a:ext cx="95250" cy="95250"/>
          </a:xfrm>
          <a:prstGeom prst="rect">
            <a:avLst/>
          </a:prstGeom>
          <a:noFill/>
          <a:ln>
            <a:noFill/>
          </a:ln>
        </p:spPr>
      </p:pic>
      <p:pic>
        <p:nvPicPr>
          <p:cNvPr id="40" name="Google Shape;124;p14" descr="image.png">
            <a:extLst>
              <a:ext uri="{FF2B5EF4-FFF2-40B4-BE49-F238E27FC236}">
                <a16:creationId xmlns:a16="http://schemas.microsoft.com/office/drawing/2014/main" id="{E147692F-3210-5102-8BDE-2F938FED3A44}"/>
              </a:ext>
            </a:extLst>
          </p:cNvPr>
          <p:cNvPicPr preferRelativeResize="0"/>
          <p:nvPr/>
        </p:nvPicPr>
        <p:blipFill rotWithShape="1">
          <a:blip r:embed="rId3">
            <a:alphaModFix/>
          </a:blip>
          <a:srcRect/>
          <a:stretch/>
        </p:blipFill>
        <p:spPr>
          <a:xfrm>
            <a:off x="1247625" y="4899395"/>
            <a:ext cx="95250" cy="95250"/>
          </a:xfrm>
          <a:prstGeom prst="rect">
            <a:avLst/>
          </a:prstGeom>
          <a:noFill/>
          <a:ln>
            <a:noFill/>
          </a:ln>
        </p:spPr>
      </p:pic>
      <p:pic>
        <p:nvPicPr>
          <p:cNvPr id="41" name="Google Shape;125;p14" descr="image.png">
            <a:extLst>
              <a:ext uri="{FF2B5EF4-FFF2-40B4-BE49-F238E27FC236}">
                <a16:creationId xmlns:a16="http://schemas.microsoft.com/office/drawing/2014/main" id="{9C3AEB1E-7279-78C8-8B45-219875D52F7F}"/>
              </a:ext>
            </a:extLst>
          </p:cNvPr>
          <p:cNvPicPr preferRelativeResize="0"/>
          <p:nvPr/>
        </p:nvPicPr>
        <p:blipFill rotWithShape="1">
          <a:blip r:embed="rId3">
            <a:alphaModFix/>
          </a:blip>
          <a:srcRect/>
          <a:stretch/>
        </p:blipFill>
        <p:spPr>
          <a:xfrm>
            <a:off x="7010250" y="2485752"/>
            <a:ext cx="95250" cy="95250"/>
          </a:xfrm>
          <a:prstGeom prst="rect">
            <a:avLst/>
          </a:prstGeom>
          <a:noFill/>
          <a:ln>
            <a:noFill/>
          </a:ln>
        </p:spPr>
      </p:pic>
      <p:pic>
        <p:nvPicPr>
          <p:cNvPr id="42" name="Google Shape;126;p14" descr="image.png">
            <a:extLst>
              <a:ext uri="{FF2B5EF4-FFF2-40B4-BE49-F238E27FC236}">
                <a16:creationId xmlns:a16="http://schemas.microsoft.com/office/drawing/2014/main" id="{396A8ECC-2411-BEEC-E58D-8F1ABA527A0C}"/>
              </a:ext>
            </a:extLst>
          </p:cNvPr>
          <p:cNvPicPr preferRelativeResize="0"/>
          <p:nvPr/>
        </p:nvPicPr>
        <p:blipFill rotWithShape="1">
          <a:blip r:embed="rId3">
            <a:alphaModFix/>
          </a:blip>
          <a:srcRect/>
          <a:stretch/>
        </p:blipFill>
        <p:spPr>
          <a:xfrm>
            <a:off x="7014060" y="3159120"/>
            <a:ext cx="95250" cy="95250"/>
          </a:xfrm>
          <a:prstGeom prst="rect">
            <a:avLst/>
          </a:prstGeom>
          <a:noFill/>
          <a:ln>
            <a:noFill/>
          </a:ln>
        </p:spPr>
      </p:pic>
      <p:pic>
        <p:nvPicPr>
          <p:cNvPr id="43" name="Google Shape;127;p14" descr="image.png">
            <a:extLst>
              <a:ext uri="{FF2B5EF4-FFF2-40B4-BE49-F238E27FC236}">
                <a16:creationId xmlns:a16="http://schemas.microsoft.com/office/drawing/2014/main" id="{D3456CC1-44AE-ED7B-C126-CC50BB380E1E}"/>
              </a:ext>
            </a:extLst>
          </p:cNvPr>
          <p:cNvPicPr preferRelativeResize="0"/>
          <p:nvPr/>
        </p:nvPicPr>
        <p:blipFill rotWithShape="1">
          <a:blip r:embed="rId3">
            <a:alphaModFix/>
          </a:blip>
          <a:srcRect/>
          <a:stretch/>
        </p:blipFill>
        <p:spPr>
          <a:xfrm>
            <a:off x="7010250" y="3498200"/>
            <a:ext cx="95250" cy="95250"/>
          </a:xfrm>
          <a:prstGeom prst="rect">
            <a:avLst/>
          </a:prstGeom>
          <a:noFill/>
          <a:ln>
            <a:noFill/>
          </a:ln>
        </p:spPr>
      </p:pic>
      <p:pic>
        <p:nvPicPr>
          <p:cNvPr id="44" name="Google Shape;128;p14" descr="image.png">
            <a:extLst>
              <a:ext uri="{FF2B5EF4-FFF2-40B4-BE49-F238E27FC236}">
                <a16:creationId xmlns:a16="http://schemas.microsoft.com/office/drawing/2014/main" id="{F89A058D-3E62-EF7D-4F44-663E88836389}"/>
              </a:ext>
            </a:extLst>
          </p:cNvPr>
          <p:cNvPicPr preferRelativeResize="0"/>
          <p:nvPr/>
        </p:nvPicPr>
        <p:blipFill rotWithShape="1">
          <a:blip r:embed="rId3">
            <a:alphaModFix/>
          </a:blip>
          <a:srcRect/>
          <a:stretch/>
        </p:blipFill>
        <p:spPr>
          <a:xfrm>
            <a:off x="7010250" y="4721211"/>
            <a:ext cx="95250" cy="95250"/>
          </a:xfrm>
          <a:prstGeom prst="rect">
            <a:avLst/>
          </a:prstGeom>
          <a:noFill/>
          <a:ln>
            <a:noFill/>
          </a:ln>
        </p:spPr>
      </p:pic>
      <p:pic>
        <p:nvPicPr>
          <p:cNvPr id="45" name="Google Shape;129;p14" descr="image.png">
            <a:extLst>
              <a:ext uri="{FF2B5EF4-FFF2-40B4-BE49-F238E27FC236}">
                <a16:creationId xmlns:a16="http://schemas.microsoft.com/office/drawing/2014/main" id="{E86AB6E3-BDA7-3499-5639-DA09BEA35B02}"/>
              </a:ext>
            </a:extLst>
          </p:cNvPr>
          <p:cNvPicPr preferRelativeResize="0"/>
          <p:nvPr/>
        </p:nvPicPr>
        <p:blipFill rotWithShape="1">
          <a:blip r:embed="rId3">
            <a:alphaModFix/>
          </a:blip>
          <a:srcRect/>
          <a:stretch/>
        </p:blipFill>
        <p:spPr>
          <a:xfrm>
            <a:off x="7010250" y="5282693"/>
            <a:ext cx="95250" cy="95250"/>
          </a:xfrm>
          <a:prstGeom prst="rect">
            <a:avLst/>
          </a:prstGeom>
          <a:noFill/>
          <a:ln>
            <a:noFill/>
          </a:ln>
        </p:spPr>
      </p:pic>
      <p:pic>
        <p:nvPicPr>
          <p:cNvPr id="46" name="Google Shape;130;p14" descr="image.png">
            <a:extLst>
              <a:ext uri="{FF2B5EF4-FFF2-40B4-BE49-F238E27FC236}">
                <a16:creationId xmlns:a16="http://schemas.microsoft.com/office/drawing/2014/main" id="{D2426E42-5A17-7BAE-31D5-B21A78375006}"/>
              </a:ext>
            </a:extLst>
          </p:cNvPr>
          <p:cNvPicPr preferRelativeResize="0"/>
          <p:nvPr/>
        </p:nvPicPr>
        <p:blipFill rotWithShape="1">
          <a:blip r:embed="rId3">
            <a:alphaModFix/>
          </a:blip>
          <a:srcRect/>
          <a:stretch/>
        </p:blipFill>
        <p:spPr>
          <a:xfrm>
            <a:off x="7010251" y="5690642"/>
            <a:ext cx="100639" cy="95250"/>
          </a:xfrm>
          <a:prstGeom prst="rect">
            <a:avLst/>
          </a:prstGeom>
          <a:noFill/>
          <a:ln>
            <a:noFill/>
          </a:ln>
        </p:spPr>
      </p:pic>
      <p:sp>
        <p:nvSpPr>
          <p:cNvPr id="47" name="Google Shape;110;p14">
            <a:extLst>
              <a:ext uri="{FF2B5EF4-FFF2-40B4-BE49-F238E27FC236}">
                <a16:creationId xmlns:a16="http://schemas.microsoft.com/office/drawing/2014/main" id="{C4337003-5855-9A6D-2606-A2DB3F813D81}"/>
              </a:ext>
            </a:extLst>
          </p:cNvPr>
          <p:cNvSpPr txBox="1"/>
          <p:nvPr/>
        </p:nvSpPr>
        <p:spPr>
          <a:xfrm>
            <a:off x="7248374" y="5977045"/>
            <a:ext cx="420671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4748B"/>
                </a:solidFill>
                <a:latin typeface="+mj-lt"/>
                <a:ea typeface="Open Sans"/>
                <a:cs typeface="Open Sans"/>
                <a:sym typeface="Open Sans"/>
              </a:rPr>
              <a:t>Kết luận - So sánh với các phương pháp hiện tại:</a:t>
            </a:r>
          </a:p>
          <a:p>
            <a:pPr marL="0" marR="0" lvl="0" indent="0" algn="l" rtl="0">
              <a:lnSpc>
                <a:spcPct val="160000"/>
              </a:lnSpc>
              <a:spcBef>
                <a:spcPts val="0"/>
              </a:spcBef>
              <a:spcAft>
                <a:spcPts val="0"/>
              </a:spcAft>
              <a:buNone/>
            </a:pPr>
            <a:r>
              <a:rPr lang="en-US" sz="1200">
                <a:solidFill>
                  <a:srgbClr val="64748B"/>
                </a:solidFill>
                <a:latin typeface="+mj-lt"/>
                <a:ea typeface="Open Sans"/>
                <a:cs typeface="Open Sans"/>
                <a:sym typeface="Open Sans"/>
              </a:rPr>
              <a:t>Logical Decoding (WAL), pgAudit, …</a:t>
            </a:r>
            <a:endParaRPr lang="en-US" sz="1200" b="0" i="0" u="none" strike="noStrike" cap="none">
              <a:solidFill>
                <a:srgbClr val="64748B"/>
              </a:solidFill>
              <a:latin typeface="+mj-lt"/>
              <a:ea typeface="Open Sans"/>
              <a:cs typeface="Open Sans"/>
              <a:sym typeface="Open Sans"/>
            </a:endParaRPr>
          </a:p>
        </p:txBody>
      </p:sp>
      <p:pic>
        <p:nvPicPr>
          <p:cNvPr id="48" name="Google Shape;130;p14" descr="image.png">
            <a:extLst>
              <a:ext uri="{FF2B5EF4-FFF2-40B4-BE49-F238E27FC236}">
                <a16:creationId xmlns:a16="http://schemas.microsoft.com/office/drawing/2014/main" id="{27F7380A-E159-9E13-8562-F97D8F92910A}"/>
              </a:ext>
            </a:extLst>
          </p:cNvPr>
          <p:cNvPicPr preferRelativeResize="0"/>
          <p:nvPr/>
        </p:nvPicPr>
        <p:blipFill rotWithShape="1">
          <a:blip r:embed="rId3">
            <a:alphaModFix/>
          </a:blip>
          <a:srcRect/>
          <a:stretch/>
        </p:blipFill>
        <p:spPr>
          <a:xfrm>
            <a:off x="7010251" y="6090106"/>
            <a:ext cx="100639" cy="95250"/>
          </a:xfrm>
          <a:prstGeom prst="rect">
            <a:avLst/>
          </a:prstGeom>
          <a:noFill/>
          <a:ln>
            <a:noFill/>
          </a:ln>
        </p:spPr>
      </p:pic>
    </p:spTree>
    <p:extLst>
      <p:ext uri="{BB962C8B-B14F-4D97-AF65-F5344CB8AC3E}">
        <p14:creationId xmlns:p14="http://schemas.microsoft.com/office/powerpoint/2010/main" val="1438463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4">
          <a:extLst>
            <a:ext uri="{FF2B5EF4-FFF2-40B4-BE49-F238E27FC236}">
              <a16:creationId xmlns:a16="http://schemas.microsoft.com/office/drawing/2014/main" id="{65617899-46EE-89CC-2E0E-8EC5854E0397}"/>
            </a:ext>
          </a:extLst>
        </p:cNvPr>
        <p:cNvGrpSpPr/>
        <p:nvPr/>
      </p:nvGrpSpPr>
      <p:grpSpPr>
        <a:xfrm>
          <a:off x="0" y="0"/>
          <a:ext cx="0" cy="0"/>
          <a:chOff x="0" y="0"/>
          <a:chExt cx="0" cy="0"/>
        </a:xfrm>
      </p:grpSpPr>
      <p:pic>
        <p:nvPicPr>
          <p:cNvPr id="135" name="Google Shape;135;p15" descr="image.png">
            <a:extLst>
              <a:ext uri="{FF2B5EF4-FFF2-40B4-BE49-F238E27FC236}">
                <a16:creationId xmlns:a16="http://schemas.microsoft.com/office/drawing/2014/main" id="{C2E83603-5DD7-1B88-6CA2-3F8CA7BEE2E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6" name="Google Shape;136;p15" descr="image.png">
            <a:extLst>
              <a:ext uri="{FF2B5EF4-FFF2-40B4-BE49-F238E27FC236}">
                <a16:creationId xmlns:a16="http://schemas.microsoft.com/office/drawing/2014/main" id="{DADD5B24-44B7-EF7C-258A-16B76B8B01F6}"/>
              </a:ext>
            </a:extLst>
          </p:cNvPr>
          <p:cNvPicPr preferRelativeResize="0"/>
          <p:nvPr/>
        </p:nvPicPr>
        <p:blipFill rotWithShape="1">
          <a:blip r:embed="rId4">
            <a:alphaModFix/>
          </a:blip>
          <a:srcRect/>
          <a:stretch/>
        </p:blipFill>
        <p:spPr>
          <a:xfrm>
            <a:off x="6334125" y="1947862"/>
            <a:ext cx="5286375" cy="3810000"/>
          </a:xfrm>
          <a:prstGeom prst="rect">
            <a:avLst/>
          </a:prstGeom>
          <a:noFill/>
          <a:ln>
            <a:noFill/>
          </a:ln>
        </p:spPr>
      </p:pic>
      <p:sp>
        <p:nvSpPr>
          <p:cNvPr id="137" name="Google Shape;137;p15">
            <a:extLst>
              <a:ext uri="{FF2B5EF4-FFF2-40B4-BE49-F238E27FC236}">
                <a16:creationId xmlns:a16="http://schemas.microsoft.com/office/drawing/2014/main" id="{1DF39CB0-81F7-7DD1-E309-EDB8EBE69488}"/>
              </a:ext>
            </a:extLst>
          </p:cNvPr>
          <p:cNvSpPr txBox="1"/>
          <p:nvPr/>
        </p:nvSpPr>
        <p:spPr>
          <a:xfrm>
            <a:off x="571500" y="1947862"/>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1E293B"/>
                </a:solidFill>
                <a:latin typeface="Open Sans"/>
                <a:ea typeface="Open Sans"/>
                <a:cs typeface="Open Sans"/>
                <a:sym typeface="Open Sans"/>
              </a:rPr>
              <a:t>Việc lưu vết dữ liệu (Audit Trail) trong các hệ thống thông tin lớn như Tài chính, Ngân hàng hiện đang đối mặt với 3 thách thức chính:</a:t>
            </a:r>
            <a:endParaRPr/>
          </a:p>
        </p:txBody>
      </p:sp>
      <p:sp>
        <p:nvSpPr>
          <p:cNvPr id="138" name="Google Shape;138;p15">
            <a:extLst>
              <a:ext uri="{FF2B5EF4-FFF2-40B4-BE49-F238E27FC236}">
                <a16:creationId xmlns:a16="http://schemas.microsoft.com/office/drawing/2014/main" id="{B78287B1-6DDB-20C5-7547-DF5855AD5673}"/>
              </a:ext>
            </a:extLst>
          </p:cNvPr>
          <p:cNvSpPr txBox="1"/>
          <p:nvPr/>
        </p:nvSpPr>
        <p:spPr>
          <a:xfrm>
            <a:off x="857250" y="3052762"/>
            <a:ext cx="50006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Dữ liệu khổng lồ (Big Data):</a:t>
            </a:r>
            <a:r>
              <a:rPr lang="en-US" sz="1350" b="0" i="0" u="none" strike="noStrike" cap="none">
                <a:solidFill>
                  <a:srgbClr val="1E293B"/>
                </a:solidFill>
                <a:latin typeface="Open Sans"/>
                <a:ea typeface="Open Sans"/>
                <a:cs typeface="Open Sans"/>
                <a:sym typeface="Open Sans"/>
              </a:rPr>
              <a:t> Khối lượng log tăng trưởng nhanh chóng, đòi hỏi không gian lưu trữ và khả năng quản lý lớn.</a:t>
            </a:r>
            <a:endParaRPr/>
          </a:p>
        </p:txBody>
      </p:sp>
      <p:sp>
        <p:nvSpPr>
          <p:cNvPr id="139" name="Google Shape;139;p15">
            <a:extLst>
              <a:ext uri="{FF2B5EF4-FFF2-40B4-BE49-F238E27FC236}">
                <a16:creationId xmlns:a16="http://schemas.microsoft.com/office/drawing/2014/main" id="{A42895F3-DC36-3343-36FD-CB73A34BBB93}"/>
              </a:ext>
            </a:extLst>
          </p:cNvPr>
          <p:cNvSpPr txBox="1"/>
          <p:nvPr/>
        </p:nvSpPr>
        <p:spPr>
          <a:xfrm>
            <a:off x="857250" y="4066133"/>
            <a:ext cx="50006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Độ trễ (Latency):</a:t>
            </a:r>
            <a:r>
              <a:rPr lang="en-US" sz="1350" b="0" i="0" u="none" strike="noStrike" cap="none">
                <a:solidFill>
                  <a:srgbClr val="1E293B"/>
                </a:solidFill>
                <a:latin typeface="Open Sans"/>
                <a:ea typeface="Open Sans"/>
                <a:cs typeface="Open Sans"/>
                <a:sym typeface="Open Sans"/>
              </a:rPr>
              <a:t> Yêu cầu khắt khe về việc ghi log mà không làm chậm hay gây tắc nghẽn giao dịch của hệ thống hiện tại.</a:t>
            </a:r>
            <a:endParaRPr/>
          </a:p>
        </p:txBody>
      </p:sp>
      <p:sp>
        <p:nvSpPr>
          <p:cNvPr id="140" name="Google Shape;140;p15">
            <a:extLst>
              <a:ext uri="{FF2B5EF4-FFF2-40B4-BE49-F238E27FC236}">
                <a16:creationId xmlns:a16="http://schemas.microsoft.com/office/drawing/2014/main" id="{9FC42499-CF9F-38D9-C436-0AD49BCEFDF8}"/>
              </a:ext>
            </a:extLst>
          </p:cNvPr>
          <p:cNvSpPr txBox="1"/>
          <p:nvPr/>
        </p:nvSpPr>
        <p:spPr>
          <a:xfrm>
            <a:off x="857250" y="4805213"/>
            <a:ext cx="50006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Bảo mật (Data Integrity):</a:t>
            </a:r>
            <a:r>
              <a:rPr lang="en-US" sz="1350" b="0" i="0" u="none" strike="noStrike" cap="none">
                <a:solidFill>
                  <a:srgbClr val="1E293B"/>
                </a:solidFill>
                <a:latin typeface="Open Sans"/>
                <a:ea typeface="Open Sans"/>
                <a:cs typeface="Open Sans"/>
                <a:sym typeface="Open Sans"/>
              </a:rPr>
              <a:t> Cần đảm bảo tính toàn vẹn dữ liệu trước sự can thiệp từ bên trong, kể cả từ người quản trị.</a:t>
            </a:r>
            <a:endParaRPr/>
          </a:p>
        </p:txBody>
      </p:sp>
      <p:pic>
        <p:nvPicPr>
          <p:cNvPr id="141" name="Google Shape;141;p15" descr="image.png">
            <a:extLst>
              <a:ext uri="{FF2B5EF4-FFF2-40B4-BE49-F238E27FC236}">
                <a16:creationId xmlns:a16="http://schemas.microsoft.com/office/drawing/2014/main" id="{7EC1F7A4-F5BC-E171-9362-3081B30E0FB8}"/>
              </a:ext>
            </a:extLst>
          </p:cNvPr>
          <p:cNvPicPr preferRelativeResize="0"/>
          <p:nvPr/>
        </p:nvPicPr>
        <p:blipFill rotWithShape="1">
          <a:blip r:embed="rId5">
            <a:alphaModFix/>
          </a:blip>
          <a:srcRect/>
          <a:stretch/>
        </p:blipFill>
        <p:spPr>
          <a:xfrm>
            <a:off x="6334125" y="1947862"/>
            <a:ext cx="5286375" cy="3810000"/>
          </a:xfrm>
          <a:prstGeom prst="rect">
            <a:avLst/>
          </a:prstGeom>
          <a:noFill/>
          <a:ln>
            <a:noFill/>
          </a:ln>
        </p:spPr>
      </p:pic>
      <p:sp>
        <p:nvSpPr>
          <p:cNvPr id="142" name="Google Shape;142;p15">
            <a:extLst>
              <a:ext uri="{FF2B5EF4-FFF2-40B4-BE49-F238E27FC236}">
                <a16:creationId xmlns:a16="http://schemas.microsoft.com/office/drawing/2014/main" id="{E2DAECA0-71CC-9EF9-447F-BA91BE4BB2FE}"/>
              </a:ext>
            </a:extLst>
          </p:cNvPr>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Thách Thức Bài Toán Audit</a:t>
            </a:r>
            <a:endParaRPr/>
          </a:p>
        </p:txBody>
      </p:sp>
      <p:pic>
        <p:nvPicPr>
          <p:cNvPr id="143" name="Google Shape;143;p15" descr="image.png">
            <a:extLst>
              <a:ext uri="{FF2B5EF4-FFF2-40B4-BE49-F238E27FC236}">
                <a16:creationId xmlns:a16="http://schemas.microsoft.com/office/drawing/2014/main" id="{38B392A6-ABA0-2AF6-57F5-98A92AB4D679}"/>
              </a:ext>
            </a:extLst>
          </p:cNvPr>
          <p:cNvPicPr preferRelativeResize="0"/>
          <p:nvPr/>
        </p:nvPicPr>
        <p:blipFill rotWithShape="1">
          <a:blip r:embed="rId6">
            <a:alphaModFix/>
          </a:blip>
          <a:srcRect/>
          <a:stretch/>
        </p:blipFill>
        <p:spPr>
          <a:xfrm>
            <a:off x="571500" y="3071812"/>
            <a:ext cx="95250" cy="200025"/>
          </a:xfrm>
          <a:prstGeom prst="rect">
            <a:avLst/>
          </a:prstGeom>
          <a:noFill/>
          <a:ln>
            <a:noFill/>
          </a:ln>
        </p:spPr>
      </p:pic>
      <p:pic>
        <p:nvPicPr>
          <p:cNvPr id="144" name="Google Shape;144;p15" descr="image.png">
            <a:extLst>
              <a:ext uri="{FF2B5EF4-FFF2-40B4-BE49-F238E27FC236}">
                <a16:creationId xmlns:a16="http://schemas.microsoft.com/office/drawing/2014/main" id="{9A393D0D-4786-CAD8-9AF1-040F5AA83B38}"/>
              </a:ext>
            </a:extLst>
          </p:cNvPr>
          <p:cNvPicPr preferRelativeResize="0"/>
          <p:nvPr/>
        </p:nvPicPr>
        <p:blipFill rotWithShape="1">
          <a:blip r:embed="rId6">
            <a:alphaModFix/>
          </a:blip>
          <a:srcRect/>
          <a:stretch/>
        </p:blipFill>
        <p:spPr>
          <a:xfrm>
            <a:off x="571500" y="4085183"/>
            <a:ext cx="95250" cy="200025"/>
          </a:xfrm>
          <a:prstGeom prst="rect">
            <a:avLst/>
          </a:prstGeom>
          <a:noFill/>
          <a:ln>
            <a:noFill/>
          </a:ln>
        </p:spPr>
      </p:pic>
      <p:pic>
        <p:nvPicPr>
          <p:cNvPr id="145" name="Google Shape;145;p15" descr="image.png">
            <a:extLst>
              <a:ext uri="{FF2B5EF4-FFF2-40B4-BE49-F238E27FC236}">
                <a16:creationId xmlns:a16="http://schemas.microsoft.com/office/drawing/2014/main" id="{CA60BEF6-6DC3-B21C-8C60-C42D89578337}"/>
              </a:ext>
            </a:extLst>
          </p:cNvPr>
          <p:cNvPicPr preferRelativeResize="0"/>
          <p:nvPr/>
        </p:nvPicPr>
        <p:blipFill rotWithShape="1">
          <a:blip r:embed="rId6">
            <a:alphaModFix/>
          </a:blip>
          <a:srcRect/>
          <a:stretch/>
        </p:blipFill>
        <p:spPr>
          <a:xfrm>
            <a:off x="571500" y="4824263"/>
            <a:ext cx="95250" cy="200025"/>
          </a:xfrm>
          <a:prstGeom prst="rect">
            <a:avLst/>
          </a:prstGeom>
          <a:noFill/>
          <a:ln>
            <a:noFill/>
          </a:ln>
        </p:spPr>
      </p:pic>
    </p:spTree>
    <p:extLst>
      <p:ext uri="{BB962C8B-B14F-4D97-AF65-F5344CB8AC3E}">
        <p14:creationId xmlns:p14="http://schemas.microsoft.com/office/powerpoint/2010/main" val="2764108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49"/>
        <p:cNvGrpSpPr/>
        <p:nvPr/>
      </p:nvGrpSpPr>
      <p:grpSpPr>
        <a:xfrm>
          <a:off x="0" y="0"/>
          <a:ext cx="0" cy="0"/>
          <a:chOff x="0" y="0"/>
          <a:chExt cx="0" cy="0"/>
        </a:xfrm>
      </p:grpSpPr>
      <p:pic>
        <p:nvPicPr>
          <p:cNvPr id="150" name="Google Shape;150;p16" descr="image.png"/>
          <p:cNvPicPr preferRelativeResize="0"/>
          <p:nvPr/>
        </p:nvPicPr>
        <p:blipFill rotWithShape="1">
          <a:blip r:embed="rId3">
            <a:alphaModFix/>
          </a:blip>
          <a:srcRect/>
          <a:stretch/>
        </p:blipFill>
        <p:spPr>
          <a:xfrm>
            <a:off x="0" y="863600"/>
            <a:ext cx="12192000" cy="6858000"/>
          </a:xfrm>
          <a:prstGeom prst="rect">
            <a:avLst/>
          </a:prstGeom>
          <a:noFill/>
          <a:ln>
            <a:noFill/>
          </a:ln>
        </p:spPr>
      </p:pic>
      <p:sp>
        <p:nvSpPr>
          <p:cNvPr id="151" name="Google Shape;151;p16"/>
          <p:cNvSpPr txBox="1"/>
          <p:nvPr/>
        </p:nvSpPr>
        <p:spPr>
          <a:xfrm>
            <a:off x="1695450" y="1628775"/>
            <a:ext cx="8801100" cy="30003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3150" b="0" i="0" u="none" strike="noStrike" cap="none">
                <a:solidFill>
                  <a:srgbClr val="1E293B"/>
                </a:solidFill>
                <a:latin typeface="Montserrat SemiBold"/>
                <a:ea typeface="Montserrat SemiBold"/>
                <a:cs typeface="Montserrat SemiBold"/>
                <a:sym typeface="Montserrat SemiBold"/>
              </a:rPr>
              <a:t>Đề xuất và xây dựng một kiến trúc cơ sở dữ liệu tối ưu trên PostgreSQL để ghi log tự động, lưu trữ linh hoạt dữ liệu đa cấu trúc, truy xuất tốc độ cao và có cơ chế bảo mật chống chối bỏ.</a:t>
            </a:r>
            <a:endParaRPr/>
          </a:p>
        </p:txBody>
      </p:sp>
      <p:sp>
        <p:nvSpPr>
          <p:cNvPr id="152" name="Google Shape;152;p16"/>
          <p:cNvSpPr txBox="1"/>
          <p:nvPr/>
        </p:nvSpPr>
        <p:spPr>
          <a:xfrm>
            <a:off x="4581525" y="5476875"/>
            <a:ext cx="3028950" cy="314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B82F6"/>
                </a:solidFill>
                <a:latin typeface="Open Sans SemiBold"/>
                <a:ea typeface="Open Sans SemiBold"/>
                <a:cs typeface="Open Sans SemiBold"/>
                <a:sym typeface="Open Sans SemiBold"/>
              </a:rPr>
              <a:t>— Mục Tiêu Nghiên Cứu Lõi</a:t>
            </a:r>
            <a:endParaRPr/>
          </a:p>
        </p:txBody>
      </p:sp>
      <p:sp>
        <p:nvSpPr>
          <p:cNvPr id="153" name="Google Shape;153;p16"/>
          <p:cNvSpPr txBox="1"/>
          <p:nvPr/>
        </p:nvSpPr>
        <p:spPr>
          <a:xfrm>
            <a:off x="933450" y="2009775"/>
            <a:ext cx="634603" cy="1314450"/>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9000" b="0" i="0" u="none" strike="noStrike" cap="none">
                <a:solidFill>
                  <a:srgbClr val="3B82F6"/>
                </a:solidFill>
                <a:latin typeface="Geo"/>
                <a:ea typeface="Geo"/>
                <a:cs typeface="Geo"/>
                <a:sym typeface="Geo"/>
              </a:rPr>
              <a:t>"</a:t>
            </a:r>
            <a:endParaRPr/>
          </a:p>
        </p:txBody>
      </p:sp>
      <p:sp>
        <p:nvSpPr>
          <p:cNvPr id="154" name="Google Shape;154;p16"/>
          <p:cNvSpPr txBox="1"/>
          <p:nvPr/>
        </p:nvSpPr>
        <p:spPr>
          <a:xfrm>
            <a:off x="10623946" y="4819650"/>
            <a:ext cx="634603" cy="1314450"/>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9000" b="0" i="0" u="none" strike="noStrike" cap="none">
                <a:solidFill>
                  <a:srgbClr val="3B82F6"/>
                </a:solidFill>
                <a:latin typeface="Geo"/>
                <a:ea typeface="Geo"/>
                <a:cs typeface="Geo"/>
                <a:sym typeface="Geo"/>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8"/>
        <p:cNvGrpSpPr/>
        <p:nvPr/>
      </p:nvGrpSpPr>
      <p:grpSpPr>
        <a:xfrm>
          <a:off x="0" y="0"/>
          <a:ext cx="0" cy="0"/>
          <a:chOff x="0" y="0"/>
          <a:chExt cx="0" cy="0"/>
        </a:xfrm>
      </p:grpSpPr>
      <p:pic>
        <p:nvPicPr>
          <p:cNvPr id="159" name="Google Shape;15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0" name="Google Shape;160;p17" descr="image.png"/>
          <p:cNvPicPr preferRelativeResize="0"/>
          <p:nvPr/>
        </p:nvPicPr>
        <p:blipFill rotWithShape="1">
          <a:blip r:embed="rId4">
            <a:alphaModFix/>
          </a:blip>
          <a:srcRect/>
          <a:stretch/>
        </p:blipFill>
        <p:spPr>
          <a:xfrm>
            <a:off x="571500" y="2020341"/>
            <a:ext cx="5286375" cy="3665041"/>
          </a:xfrm>
          <a:prstGeom prst="rect">
            <a:avLst/>
          </a:prstGeom>
          <a:noFill/>
          <a:ln>
            <a:noFill/>
          </a:ln>
        </p:spPr>
      </p:pic>
      <p:pic>
        <p:nvPicPr>
          <p:cNvPr id="161" name="Google Shape;161;p17" descr="image.png"/>
          <p:cNvPicPr preferRelativeResize="0"/>
          <p:nvPr/>
        </p:nvPicPr>
        <p:blipFill rotWithShape="1">
          <a:blip r:embed="rId5">
            <a:alphaModFix/>
          </a:blip>
          <a:srcRect/>
          <a:stretch/>
        </p:blipFill>
        <p:spPr>
          <a:xfrm>
            <a:off x="6334125" y="2020341"/>
            <a:ext cx="5286375" cy="3665041"/>
          </a:xfrm>
          <a:prstGeom prst="rect">
            <a:avLst/>
          </a:prstGeom>
          <a:noFill/>
          <a:ln>
            <a:noFill/>
          </a:ln>
        </p:spPr>
      </p:pic>
      <p:sp>
        <p:nvSpPr>
          <p:cNvPr id="162" name="Google Shape;162;p17"/>
          <p:cNvSpPr txBox="1"/>
          <p:nvPr/>
        </p:nvSpPr>
        <p:spPr>
          <a:xfrm>
            <a:off x="962025" y="2410866"/>
            <a:ext cx="4730591"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Logical Decoding (WAL)</a:t>
            </a:r>
            <a:endParaRPr/>
          </a:p>
        </p:txBody>
      </p:sp>
      <p:sp>
        <p:nvSpPr>
          <p:cNvPr id="163" name="Google Shape;163;p17"/>
          <p:cNvSpPr txBox="1"/>
          <p:nvPr/>
        </p:nvSpPr>
        <p:spPr>
          <a:xfrm>
            <a:off x="962025" y="2877591"/>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a:ea typeface="Open Sans"/>
                <a:cs typeface="Open Sans"/>
                <a:sym typeface="Open Sans"/>
              </a:rPr>
              <a:t>Ghi nhận thay đổi ở cấp độ engine cơ sở dữ liệu thông qua Write-Ahead Logging.</a:t>
            </a:r>
            <a:endParaRPr/>
          </a:p>
        </p:txBody>
      </p:sp>
      <p:sp>
        <p:nvSpPr>
          <p:cNvPr id="164" name="Google Shape;164;p17"/>
          <p:cNvSpPr/>
          <p:nvPr/>
        </p:nvSpPr>
        <p:spPr>
          <a:xfrm>
            <a:off x="962025" y="3616672"/>
            <a:ext cx="45053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7"/>
          <p:cNvSpPr txBox="1"/>
          <p:nvPr/>
        </p:nvSpPr>
        <p:spPr>
          <a:xfrm>
            <a:off x="6724650" y="2410866"/>
            <a:ext cx="4730591"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Extension (Ví dụ: pgAudit)</a:t>
            </a:r>
            <a:endParaRPr/>
          </a:p>
        </p:txBody>
      </p:sp>
      <p:sp>
        <p:nvSpPr>
          <p:cNvPr id="166" name="Google Shape;166;p17"/>
          <p:cNvSpPr txBox="1"/>
          <p:nvPr/>
        </p:nvSpPr>
        <p:spPr>
          <a:xfrm>
            <a:off x="6724650" y="2877591"/>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a:ea typeface="Open Sans"/>
                <a:cs typeface="Open Sans"/>
                <a:sym typeface="Open Sans"/>
              </a:rPr>
              <a:t>Sử dụng các phần mở rộng tích hợp sẵn trong PostgreSQL để theo dõi truy vấn.</a:t>
            </a:r>
            <a:endParaRPr/>
          </a:p>
        </p:txBody>
      </p:sp>
      <p:sp>
        <p:nvSpPr>
          <p:cNvPr id="167" name="Google Shape;167;p17"/>
          <p:cNvSpPr/>
          <p:nvPr/>
        </p:nvSpPr>
        <p:spPr>
          <a:xfrm>
            <a:off x="6724650" y="3616672"/>
            <a:ext cx="45053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7"/>
          <p:cNvSpPr txBox="1"/>
          <p:nvPr/>
        </p:nvSpPr>
        <p:spPr>
          <a:xfrm>
            <a:off x="1247775" y="3816697"/>
            <a:ext cx="421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Nhược điểm 1:</a:t>
            </a:r>
            <a:r>
              <a:rPr lang="en-US" sz="1350" b="0" i="0" u="none" strike="noStrike" cap="none">
                <a:solidFill>
                  <a:srgbClr val="1E293B"/>
                </a:solidFill>
                <a:latin typeface="Open Sans"/>
                <a:ea typeface="Open Sans"/>
                <a:cs typeface="Open Sans"/>
                <a:sym typeface="Open Sans"/>
              </a:rPr>
              <a:t> Khó ánh xạ chính xác thông tin người dùng ứng dụng (Application Context).</a:t>
            </a:r>
            <a:endParaRPr/>
          </a:p>
        </p:txBody>
      </p:sp>
      <p:sp>
        <p:nvSpPr>
          <p:cNvPr id="169" name="Google Shape;169;p17"/>
          <p:cNvSpPr txBox="1"/>
          <p:nvPr/>
        </p:nvSpPr>
        <p:spPr>
          <a:xfrm>
            <a:off x="1247775" y="4555777"/>
            <a:ext cx="421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Nhược điểm 2:</a:t>
            </a:r>
            <a:r>
              <a:rPr lang="en-US" sz="1350" b="0" i="0" u="none" strike="noStrike" cap="none">
                <a:solidFill>
                  <a:srgbClr val="1E293B"/>
                </a:solidFill>
                <a:latin typeface="Open Sans"/>
                <a:ea typeface="Open Sans"/>
                <a:cs typeface="Open Sans"/>
                <a:sym typeface="Open Sans"/>
              </a:rPr>
              <a:t> Yêu cầu thiết lập và duy trì luồng dữ liệu (streaming) khá phức tạp.</a:t>
            </a:r>
            <a:endParaRPr/>
          </a:p>
        </p:txBody>
      </p:sp>
      <p:sp>
        <p:nvSpPr>
          <p:cNvPr id="170" name="Google Shape;170;p17"/>
          <p:cNvSpPr txBox="1"/>
          <p:nvPr/>
        </p:nvSpPr>
        <p:spPr>
          <a:xfrm>
            <a:off x="7010400" y="3816697"/>
            <a:ext cx="421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Nhược điểm 1:</a:t>
            </a:r>
            <a:r>
              <a:rPr lang="en-US" sz="1350" b="0" i="0" u="none" strike="noStrike" cap="none">
                <a:solidFill>
                  <a:srgbClr val="1E293B"/>
                </a:solidFill>
                <a:latin typeface="Open Sans"/>
                <a:ea typeface="Open Sans"/>
                <a:cs typeface="Open Sans"/>
                <a:sym typeface="Open Sans"/>
              </a:rPr>
              <a:t> Ghi log dưới dạng text thô (raw text) vào file log của hệ điều hành.</a:t>
            </a:r>
            <a:endParaRPr/>
          </a:p>
        </p:txBody>
      </p:sp>
      <p:sp>
        <p:nvSpPr>
          <p:cNvPr id="171" name="Google Shape;171;p17"/>
          <p:cNvSpPr txBox="1"/>
          <p:nvPr/>
        </p:nvSpPr>
        <p:spPr>
          <a:xfrm>
            <a:off x="7010400" y="4555777"/>
            <a:ext cx="421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Nhược điểm 2:</a:t>
            </a:r>
            <a:r>
              <a:rPr lang="en-US" sz="1350" b="0" i="0" u="none" strike="noStrike" cap="none">
                <a:solidFill>
                  <a:srgbClr val="1E293B"/>
                </a:solidFill>
                <a:latin typeface="Open Sans"/>
                <a:ea typeface="Open Sans"/>
                <a:cs typeface="Open Sans"/>
                <a:sym typeface="Open Sans"/>
              </a:rPr>
              <a:t> Gây khó khăn lớn cho việc truy vấn có cấu trúc, tìm kiếm và phân tích sau này.</a:t>
            </a:r>
            <a:endParaRPr/>
          </a:p>
        </p:txBody>
      </p:sp>
      <p:sp>
        <p:nvSpPr>
          <p:cNvPr id="172" name="Google Shape;172;p17"/>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Các Phương Pháp Hiện Tại</a:t>
            </a:r>
            <a:endParaRPr/>
          </a:p>
        </p:txBody>
      </p:sp>
      <p:pic>
        <p:nvPicPr>
          <p:cNvPr id="173" name="Google Shape;173;p17" descr="image.png"/>
          <p:cNvPicPr preferRelativeResize="0"/>
          <p:nvPr/>
        </p:nvPicPr>
        <p:blipFill rotWithShape="1">
          <a:blip r:embed="rId6">
            <a:alphaModFix/>
          </a:blip>
          <a:srcRect/>
          <a:stretch/>
        </p:blipFill>
        <p:spPr>
          <a:xfrm>
            <a:off x="962025" y="3835747"/>
            <a:ext cx="95250" cy="200025"/>
          </a:xfrm>
          <a:prstGeom prst="rect">
            <a:avLst/>
          </a:prstGeom>
          <a:noFill/>
          <a:ln>
            <a:noFill/>
          </a:ln>
        </p:spPr>
      </p:pic>
      <p:pic>
        <p:nvPicPr>
          <p:cNvPr id="174" name="Google Shape;174;p17" descr="image.png"/>
          <p:cNvPicPr preferRelativeResize="0"/>
          <p:nvPr/>
        </p:nvPicPr>
        <p:blipFill rotWithShape="1">
          <a:blip r:embed="rId6">
            <a:alphaModFix/>
          </a:blip>
          <a:srcRect/>
          <a:stretch/>
        </p:blipFill>
        <p:spPr>
          <a:xfrm>
            <a:off x="962025" y="4574827"/>
            <a:ext cx="95250" cy="200025"/>
          </a:xfrm>
          <a:prstGeom prst="rect">
            <a:avLst/>
          </a:prstGeom>
          <a:noFill/>
          <a:ln>
            <a:noFill/>
          </a:ln>
        </p:spPr>
      </p:pic>
      <p:pic>
        <p:nvPicPr>
          <p:cNvPr id="175" name="Google Shape;175;p17" descr="image.png"/>
          <p:cNvPicPr preferRelativeResize="0"/>
          <p:nvPr/>
        </p:nvPicPr>
        <p:blipFill rotWithShape="1">
          <a:blip r:embed="rId6">
            <a:alphaModFix/>
          </a:blip>
          <a:srcRect/>
          <a:stretch/>
        </p:blipFill>
        <p:spPr>
          <a:xfrm>
            <a:off x="6724650" y="3835747"/>
            <a:ext cx="95250" cy="200025"/>
          </a:xfrm>
          <a:prstGeom prst="rect">
            <a:avLst/>
          </a:prstGeom>
          <a:noFill/>
          <a:ln>
            <a:noFill/>
          </a:ln>
        </p:spPr>
      </p:pic>
      <p:pic>
        <p:nvPicPr>
          <p:cNvPr id="176" name="Google Shape;176;p17" descr="image.png"/>
          <p:cNvPicPr preferRelativeResize="0"/>
          <p:nvPr/>
        </p:nvPicPr>
        <p:blipFill rotWithShape="1">
          <a:blip r:embed="rId6">
            <a:alphaModFix/>
          </a:blip>
          <a:srcRect/>
          <a:stretch/>
        </p:blipFill>
        <p:spPr>
          <a:xfrm>
            <a:off x="6724650" y="4574827"/>
            <a:ext cx="95250"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80"/>
        <p:cNvGrpSpPr/>
        <p:nvPr/>
      </p:nvGrpSpPr>
      <p:grpSpPr>
        <a:xfrm>
          <a:off x="0" y="0"/>
          <a:ext cx="0" cy="0"/>
          <a:chOff x="0" y="0"/>
          <a:chExt cx="0" cy="0"/>
        </a:xfrm>
      </p:grpSpPr>
      <p:pic>
        <p:nvPicPr>
          <p:cNvPr id="181" name="Google Shape;181;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2" name="Google Shape;182;p18" descr="image.png"/>
          <p:cNvPicPr preferRelativeResize="0"/>
          <p:nvPr/>
        </p:nvPicPr>
        <p:blipFill rotWithShape="1">
          <a:blip r:embed="rId4">
            <a:alphaModFix/>
          </a:blip>
          <a:srcRect/>
          <a:stretch/>
        </p:blipFill>
        <p:spPr>
          <a:xfrm>
            <a:off x="571500" y="2043112"/>
            <a:ext cx="3492549" cy="3619351"/>
          </a:xfrm>
          <a:prstGeom prst="rect">
            <a:avLst/>
          </a:prstGeom>
          <a:noFill/>
          <a:ln>
            <a:noFill/>
          </a:ln>
        </p:spPr>
      </p:pic>
      <p:pic>
        <p:nvPicPr>
          <p:cNvPr id="183" name="Google Shape;183;p18" descr="image.png"/>
          <p:cNvPicPr preferRelativeResize="0"/>
          <p:nvPr/>
        </p:nvPicPr>
        <p:blipFill rotWithShape="1">
          <a:blip r:embed="rId5">
            <a:alphaModFix/>
          </a:blip>
          <a:srcRect/>
          <a:stretch/>
        </p:blipFill>
        <p:spPr>
          <a:xfrm>
            <a:off x="4349799" y="2043112"/>
            <a:ext cx="3492549" cy="3619351"/>
          </a:xfrm>
          <a:prstGeom prst="rect">
            <a:avLst/>
          </a:prstGeom>
          <a:noFill/>
          <a:ln>
            <a:noFill/>
          </a:ln>
        </p:spPr>
      </p:pic>
      <p:pic>
        <p:nvPicPr>
          <p:cNvPr id="184" name="Google Shape;184;p18" descr="image.png"/>
          <p:cNvPicPr preferRelativeResize="0"/>
          <p:nvPr/>
        </p:nvPicPr>
        <p:blipFill rotWithShape="1">
          <a:blip r:embed="rId6">
            <a:alphaModFix/>
          </a:blip>
          <a:srcRect/>
          <a:stretch/>
        </p:blipFill>
        <p:spPr>
          <a:xfrm>
            <a:off x="8128099" y="2043112"/>
            <a:ext cx="3492549" cy="3619351"/>
          </a:xfrm>
          <a:prstGeom prst="rect">
            <a:avLst/>
          </a:prstGeom>
          <a:noFill/>
          <a:ln>
            <a:noFill/>
          </a:ln>
        </p:spPr>
      </p:pic>
      <p:sp>
        <p:nvSpPr>
          <p:cNvPr id="185" name="Google Shape;185;p18"/>
          <p:cNvSpPr txBox="1"/>
          <p:nvPr/>
        </p:nvSpPr>
        <p:spPr>
          <a:xfrm>
            <a:off x="866775" y="3290887"/>
            <a:ext cx="251031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Trigger (Tự động)</a:t>
            </a:r>
            <a:endParaRPr/>
          </a:p>
        </p:txBody>
      </p:sp>
      <p:sp>
        <p:nvSpPr>
          <p:cNvPr id="186" name="Google Shape;186;p18"/>
          <p:cNvSpPr txBox="1"/>
          <p:nvPr/>
        </p:nvSpPr>
        <p:spPr>
          <a:xfrm>
            <a:off x="866775" y="3757612"/>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a:ea typeface="Open Sans"/>
                <a:cs typeface="Open Sans"/>
                <a:sym typeface="Open Sans"/>
              </a:rPr>
              <a:t>Sử dụng cơ chế AFTER ROW Trigger để tự động bắt các sự kiện thay đổi dữ liệu mà không cần phải can thiệp hay sửa đổi mã nguồn của ứng dụng.</a:t>
            </a:r>
            <a:endParaRPr/>
          </a:p>
        </p:txBody>
      </p:sp>
      <p:sp>
        <p:nvSpPr>
          <p:cNvPr id="187" name="Google Shape;187;p18"/>
          <p:cNvSpPr txBox="1"/>
          <p:nvPr/>
        </p:nvSpPr>
        <p:spPr>
          <a:xfrm>
            <a:off x="4645074" y="3290887"/>
            <a:ext cx="276034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JSONB + GIN Index</a:t>
            </a:r>
            <a:endParaRPr/>
          </a:p>
        </p:txBody>
      </p:sp>
      <p:sp>
        <p:nvSpPr>
          <p:cNvPr id="188" name="Google Shape;188;p18"/>
          <p:cNvSpPr txBox="1"/>
          <p:nvPr/>
        </p:nvSpPr>
        <p:spPr>
          <a:xfrm>
            <a:off x="4645074" y="3757612"/>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a:ea typeface="Open Sans"/>
                <a:cs typeface="Open Sans"/>
                <a:sym typeface="Open Sans"/>
              </a:rPr>
              <a:t>Lưu trữ Schema-less linh hoạt cho dữ liệu phức tạp. Kết hợp GIN Index mang lại tốc độ truy xuất cực cao khi tìm kiếm sâu vào các key của JSON.</a:t>
            </a:r>
            <a:endParaRPr/>
          </a:p>
        </p:txBody>
      </p:sp>
      <p:sp>
        <p:nvSpPr>
          <p:cNvPr id="189" name="Google Shape;189;p18"/>
          <p:cNvSpPr txBox="1"/>
          <p:nvPr/>
        </p:nvSpPr>
        <p:spPr>
          <a:xfrm>
            <a:off x="8423374" y="3290887"/>
            <a:ext cx="172021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Partitioning</a:t>
            </a:r>
            <a:endParaRPr/>
          </a:p>
        </p:txBody>
      </p:sp>
      <p:sp>
        <p:nvSpPr>
          <p:cNvPr id="190" name="Google Shape;190;p18"/>
          <p:cNvSpPr txBox="1"/>
          <p:nvPr/>
        </p:nvSpPr>
        <p:spPr>
          <a:xfrm>
            <a:off x="8423374" y="3757612"/>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a:ea typeface="Open Sans"/>
                <a:cs typeface="Open Sans"/>
                <a:sym typeface="Open Sans"/>
              </a:rPr>
              <a:t>Phân mảnh dữ liệu theo thời gian (Time-based). Quản lý vòng đời dữ liệu dễ dàng và duy trì hiệu năng cao cho hệ thống khi dữ liệu phình to.</a:t>
            </a:r>
            <a:endParaRPr/>
          </a:p>
        </p:txBody>
      </p:sp>
      <p:pic>
        <p:nvPicPr>
          <p:cNvPr id="191" name="Google Shape;191;p18" descr="image.png"/>
          <p:cNvPicPr preferRelativeResize="0"/>
          <p:nvPr/>
        </p:nvPicPr>
        <p:blipFill rotWithShape="1">
          <a:blip r:embed="rId7">
            <a:alphaModFix/>
          </a:blip>
          <a:srcRect/>
          <a:stretch/>
        </p:blipFill>
        <p:spPr>
          <a:xfrm>
            <a:off x="866775" y="2519362"/>
            <a:ext cx="400050" cy="457200"/>
          </a:xfrm>
          <a:prstGeom prst="rect">
            <a:avLst/>
          </a:prstGeom>
          <a:noFill/>
          <a:ln>
            <a:noFill/>
          </a:ln>
        </p:spPr>
      </p:pic>
      <p:pic>
        <p:nvPicPr>
          <p:cNvPr id="192" name="Google Shape;192;p18" descr="image.png"/>
          <p:cNvPicPr preferRelativeResize="0"/>
          <p:nvPr/>
        </p:nvPicPr>
        <p:blipFill rotWithShape="1">
          <a:blip r:embed="rId8">
            <a:alphaModFix/>
          </a:blip>
          <a:srcRect/>
          <a:stretch/>
        </p:blipFill>
        <p:spPr>
          <a:xfrm>
            <a:off x="4645074" y="2519362"/>
            <a:ext cx="571500" cy="457200"/>
          </a:xfrm>
          <a:prstGeom prst="rect">
            <a:avLst/>
          </a:prstGeom>
          <a:noFill/>
          <a:ln>
            <a:noFill/>
          </a:ln>
        </p:spPr>
      </p:pic>
      <p:pic>
        <p:nvPicPr>
          <p:cNvPr id="193" name="Google Shape;193;p18" descr="image.png"/>
          <p:cNvPicPr preferRelativeResize="0"/>
          <p:nvPr/>
        </p:nvPicPr>
        <p:blipFill rotWithShape="1">
          <a:blip r:embed="rId9">
            <a:alphaModFix/>
          </a:blip>
          <a:srcRect/>
          <a:stretch/>
        </p:blipFill>
        <p:spPr>
          <a:xfrm>
            <a:off x="8423374" y="2519362"/>
            <a:ext cx="514350" cy="457200"/>
          </a:xfrm>
          <a:prstGeom prst="rect">
            <a:avLst/>
          </a:prstGeom>
          <a:noFill/>
          <a:ln>
            <a:noFill/>
          </a:ln>
        </p:spPr>
      </p:pic>
      <p:sp>
        <p:nvSpPr>
          <p:cNvPr id="194" name="Google Shape;194;p18"/>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Phương Pháp Đề Xuất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98"/>
        <p:cNvGrpSpPr/>
        <p:nvPr/>
      </p:nvGrpSpPr>
      <p:grpSpPr>
        <a:xfrm>
          <a:off x="0" y="0"/>
          <a:ext cx="0" cy="0"/>
          <a:chOff x="0" y="0"/>
          <a:chExt cx="0" cy="0"/>
        </a:xfrm>
      </p:grpSpPr>
      <p:pic>
        <p:nvPicPr>
          <p:cNvPr id="199" name="Google Shape;19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0" name="Google Shape;200;p19" descr="image.png"/>
          <p:cNvPicPr preferRelativeResize="0"/>
          <p:nvPr/>
        </p:nvPicPr>
        <p:blipFill rotWithShape="1">
          <a:blip r:embed="rId4">
            <a:alphaModFix/>
          </a:blip>
          <a:srcRect/>
          <a:stretch/>
        </p:blipFill>
        <p:spPr>
          <a:xfrm>
            <a:off x="571500" y="2170807"/>
            <a:ext cx="11049000" cy="3364110"/>
          </a:xfrm>
          <a:prstGeom prst="rect">
            <a:avLst/>
          </a:prstGeom>
          <a:noFill/>
          <a:ln>
            <a:noFill/>
          </a:ln>
        </p:spPr>
      </p:pic>
      <p:graphicFrame>
        <p:nvGraphicFramePr>
          <p:cNvPr id="201" name="Google Shape;201;p19"/>
          <p:cNvGraphicFramePr/>
          <p:nvPr/>
        </p:nvGraphicFramePr>
        <p:xfrm>
          <a:off x="581025" y="2180332"/>
          <a:ext cx="11029950" cy="3345000"/>
        </p:xfrm>
        <a:graphic>
          <a:graphicData uri="http://schemas.openxmlformats.org/drawingml/2006/table">
            <a:tbl>
              <a:tblPr firstRow="1" bandRow="1">
                <a:noFill/>
                <a:tableStyleId>{8527932C-D9CD-4B2D-8FF9-38AF6C7479CE}</a:tableStyleId>
              </a:tblPr>
              <a:tblGrid>
                <a:gridCol w="3753600">
                  <a:extLst>
                    <a:ext uri="{9D8B030D-6E8A-4147-A177-3AD203B41FA5}">
                      <a16:colId xmlns:a16="http://schemas.microsoft.com/office/drawing/2014/main" val="20000"/>
                    </a:ext>
                  </a:extLst>
                </a:gridCol>
                <a:gridCol w="3118400">
                  <a:extLst>
                    <a:ext uri="{9D8B030D-6E8A-4147-A177-3AD203B41FA5}">
                      <a16:colId xmlns:a16="http://schemas.microsoft.com/office/drawing/2014/main" val="20001"/>
                    </a:ext>
                  </a:extLst>
                </a:gridCol>
                <a:gridCol w="2021075">
                  <a:extLst>
                    <a:ext uri="{9D8B030D-6E8A-4147-A177-3AD203B41FA5}">
                      <a16:colId xmlns:a16="http://schemas.microsoft.com/office/drawing/2014/main" val="20002"/>
                    </a:ext>
                  </a:extLst>
                </a:gridCol>
                <a:gridCol w="2136875">
                  <a:extLst>
                    <a:ext uri="{9D8B030D-6E8A-4147-A177-3AD203B41FA5}">
                      <a16:colId xmlns:a16="http://schemas.microsoft.com/office/drawing/2014/main" val="20003"/>
                    </a:ext>
                  </a:extLst>
                </a:gridCol>
              </a:tblGrid>
              <a:tr h="669000">
                <a:tc>
                  <a:txBody>
                    <a:bodyPr/>
                    <a:lstStyle/>
                    <a:p>
                      <a:pPr marL="0" marR="0" lvl="0" indent="0" algn="l" rtl="0">
                        <a:spcBef>
                          <a:spcPts val="0"/>
                        </a:spcBef>
                        <a:spcAft>
                          <a:spcPts val="0"/>
                        </a:spcAft>
                        <a:buNone/>
                      </a:pPr>
                      <a:r>
                        <a:rPr lang="en-US" sz="1500" b="1" i="0" u="none" strike="noStrike" cap="none">
                          <a:solidFill>
                            <a:srgbClr val="0F172A"/>
                          </a:solidFill>
                          <a:latin typeface="Montserrat"/>
                          <a:ea typeface="Montserrat"/>
                          <a:cs typeface="Montserrat"/>
                          <a:sym typeface="Montserrat"/>
                        </a:rPr>
                        <a:t>Tiêu chí đánh giá</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Montserrat"/>
                          <a:ea typeface="Montserrat"/>
                          <a:cs typeface="Montserrat"/>
                          <a:sym typeface="Montserrat"/>
                        </a:rPr>
                        <a:t>Trigger + JSONB (Đề xuất)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Montserrat"/>
                          <a:ea typeface="Montserrat"/>
                          <a:cs typeface="Montserrat"/>
                          <a:sym typeface="Montserrat"/>
                        </a:rPr>
                        <a:t>pgAudit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Montserrat"/>
                          <a:ea typeface="Montserrat"/>
                          <a:cs typeface="Montserrat"/>
                          <a:sym typeface="Montserrat"/>
                        </a:rPr>
                        <a:t>CDC (Debezium)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69000">
                <a:tc>
                  <a:txBody>
                    <a:bodyPr/>
                    <a:lstStyle/>
                    <a:p>
                      <a:pPr marL="0" marR="0" lvl="0" indent="0" algn="l" rtl="0">
                        <a:spcBef>
                          <a:spcPts val="0"/>
                        </a:spcBef>
                        <a:spcAft>
                          <a:spcPts val="0"/>
                        </a:spcAft>
                        <a:buNone/>
                      </a:pPr>
                      <a:r>
                        <a:rPr lang="en-US" sz="1350" b="1" i="0" u="none" strike="noStrike" cap="none">
                          <a:solidFill>
                            <a:srgbClr val="1E293B"/>
                          </a:solidFill>
                          <a:latin typeface="Open Sans"/>
                          <a:ea typeface="Open Sans"/>
                          <a:cs typeface="Open Sans"/>
                          <a:sym typeface="Open Sans"/>
                        </a:rPr>
                        <a:t>Structured Query (Truy vấn có cấu trúc)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Có (JSONB)</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Không (Raw Text)</a:t>
                      </a:r>
                      <a:endParaRPr/>
                    </a:p>
                  </a:txBody>
                  <a:tcPr marL="2381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Hạn chế</a:t>
                      </a:r>
                      <a:endParaRPr/>
                    </a:p>
                  </a:txBody>
                  <a:tcPr marL="2857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69000">
                <a:tc>
                  <a:txBody>
                    <a:bodyPr/>
                    <a:lstStyle/>
                    <a:p>
                      <a:pPr marL="0" marR="0" lvl="0" indent="0" algn="l" rtl="0">
                        <a:spcBef>
                          <a:spcPts val="0"/>
                        </a:spcBef>
                        <a:spcAft>
                          <a:spcPts val="0"/>
                        </a:spcAft>
                        <a:buNone/>
                      </a:pPr>
                      <a:r>
                        <a:rPr lang="en-US" sz="1350" b="1" i="0" u="none" strike="noStrike" cap="none">
                          <a:solidFill>
                            <a:srgbClr val="1E293B"/>
                          </a:solidFill>
                          <a:latin typeface="Open Sans"/>
                          <a:ea typeface="Open Sans"/>
                          <a:cs typeface="Open Sans"/>
                          <a:sym typeface="Open Sans"/>
                        </a:rPr>
                        <a:t>Real-time Streaming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Không</a:t>
                      </a:r>
                      <a:endParaRPr/>
                    </a:p>
                  </a:txBody>
                  <a:tcPr marL="2381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Không</a:t>
                      </a:r>
                      <a:endParaRPr/>
                    </a:p>
                  </a:txBody>
                  <a:tcPr marL="2381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Có</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69000">
                <a:tc>
                  <a:txBody>
                    <a:bodyPr/>
                    <a:lstStyle/>
                    <a:p>
                      <a:pPr marL="0" marR="0" lvl="0" indent="0" algn="l" rtl="0">
                        <a:spcBef>
                          <a:spcPts val="0"/>
                        </a:spcBef>
                        <a:spcAft>
                          <a:spcPts val="0"/>
                        </a:spcAft>
                        <a:buNone/>
                      </a:pPr>
                      <a:r>
                        <a:rPr lang="en-US" sz="1350" b="1" i="0" u="none" strike="noStrike" cap="none">
                          <a:solidFill>
                            <a:srgbClr val="1E293B"/>
                          </a:solidFill>
                          <a:latin typeface="Open Sans"/>
                          <a:ea typeface="Open Sans"/>
                          <a:cs typeface="Open Sans"/>
                          <a:sym typeface="Open Sans"/>
                        </a:rPr>
                        <a:t>Application Context (Ngữ cảnh User)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Có</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Không</a:t>
                      </a:r>
                      <a:endParaRPr/>
                    </a:p>
                  </a:txBody>
                  <a:tcPr marL="2381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E293B"/>
                          </a:solidFill>
                          <a:latin typeface="Open Sans"/>
                          <a:ea typeface="Open Sans"/>
                          <a:cs typeface="Open Sans"/>
                          <a:sym typeface="Open Sans"/>
                        </a:rPr>
                        <a:t>Không</a:t>
                      </a:r>
                      <a:endParaRPr/>
                    </a:p>
                  </a:txBody>
                  <a:tcPr marL="2381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69000">
                <a:tc>
                  <a:txBody>
                    <a:bodyPr/>
                    <a:lstStyle/>
                    <a:p>
                      <a:pPr marL="0" marR="0" lvl="0" indent="0" algn="l" rtl="0">
                        <a:spcBef>
                          <a:spcPts val="0"/>
                        </a:spcBef>
                        <a:spcAft>
                          <a:spcPts val="0"/>
                        </a:spcAft>
                        <a:buNone/>
                      </a:pPr>
                      <a:r>
                        <a:rPr lang="en-US" sz="1350" b="1" i="0" u="none" strike="noStrike" cap="none">
                          <a:solidFill>
                            <a:srgbClr val="1E293B"/>
                          </a:solidFill>
                          <a:latin typeface="Open Sans"/>
                          <a:ea typeface="Open Sans"/>
                          <a:cs typeface="Open Sans"/>
                          <a:sym typeface="Open Sans"/>
                        </a:rPr>
                        <a:t>Độ phức tạp triển khai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F59E0B"/>
                          </a:solidFill>
                          <a:latin typeface="Open Sans SemiBold"/>
                          <a:ea typeface="Open Sans SemiBold"/>
                          <a:cs typeface="Open Sans SemiBold"/>
                          <a:sym typeface="Open Sans SemiBold"/>
                        </a:rPr>
                        <a:t>Trung bình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0B981"/>
                          </a:solidFill>
                          <a:latin typeface="Open Sans SemiBold"/>
                          <a:ea typeface="Open Sans SemiBold"/>
                          <a:cs typeface="Open Sans SemiBold"/>
                          <a:sym typeface="Open Sans SemiBold"/>
                        </a:rPr>
                        <a:t>Thấp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EF4444"/>
                          </a:solidFill>
                          <a:latin typeface="Open Sans SemiBold"/>
                          <a:ea typeface="Open Sans SemiBold"/>
                          <a:cs typeface="Open Sans SemiBold"/>
                          <a:sym typeface="Open Sans SemiBold"/>
                        </a:rPr>
                        <a:t>Cao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02" name="Google Shape;202;p19"/>
          <p:cNvSpPr/>
          <p:nvPr/>
        </p:nvSpPr>
        <p:spPr>
          <a:xfrm>
            <a:off x="581025" y="2861369"/>
            <a:ext cx="3753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19"/>
          <p:cNvSpPr/>
          <p:nvPr/>
        </p:nvSpPr>
        <p:spPr>
          <a:xfrm>
            <a:off x="4334619" y="2861369"/>
            <a:ext cx="31183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19"/>
          <p:cNvSpPr/>
          <p:nvPr/>
        </p:nvSpPr>
        <p:spPr>
          <a:xfrm>
            <a:off x="7453014" y="2861369"/>
            <a:ext cx="20210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19"/>
          <p:cNvSpPr/>
          <p:nvPr/>
        </p:nvSpPr>
        <p:spPr>
          <a:xfrm>
            <a:off x="9474100" y="2861369"/>
            <a:ext cx="213687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19"/>
          <p:cNvSpPr/>
          <p:nvPr/>
        </p:nvSpPr>
        <p:spPr>
          <a:xfrm>
            <a:off x="581025" y="3526184"/>
            <a:ext cx="3753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19"/>
          <p:cNvSpPr/>
          <p:nvPr/>
        </p:nvSpPr>
        <p:spPr>
          <a:xfrm>
            <a:off x="4334619" y="3526184"/>
            <a:ext cx="31183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9"/>
          <p:cNvSpPr/>
          <p:nvPr/>
        </p:nvSpPr>
        <p:spPr>
          <a:xfrm>
            <a:off x="7453014" y="3526184"/>
            <a:ext cx="20210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19"/>
          <p:cNvSpPr/>
          <p:nvPr/>
        </p:nvSpPr>
        <p:spPr>
          <a:xfrm>
            <a:off x="9474100" y="3526184"/>
            <a:ext cx="213687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19"/>
          <p:cNvSpPr/>
          <p:nvPr/>
        </p:nvSpPr>
        <p:spPr>
          <a:xfrm>
            <a:off x="581025" y="4191000"/>
            <a:ext cx="3753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19"/>
          <p:cNvSpPr/>
          <p:nvPr/>
        </p:nvSpPr>
        <p:spPr>
          <a:xfrm>
            <a:off x="4334619" y="4191000"/>
            <a:ext cx="31183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19"/>
          <p:cNvSpPr/>
          <p:nvPr/>
        </p:nvSpPr>
        <p:spPr>
          <a:xfrm>
            <a:off x="7453014" y="4191000"/>
            <a:ext cx="20210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19"/>
          <p:cNvSpPr/>
          <p:nvPr/>
        </p:nvSpPr>
        <p:spPr>
          <a:xfrm>
            <a:off x="9474100" y="4191000"/>
            <a:ext cx="213687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19"/>
          <p:cNvSpPr/>
          <p:nvPr/>
        </p:nvSpPr>
        <p:spPr>
          <a:xfrm>
            <a:off x="581025" y="4855815"/>
            <a:ext cx="3753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19"/>
          <p:cNvSpPr/>
          <p:nvPr/>
        </p:nvSpPr>
        <p:spPr>
          <a:xfrm>
            <a:off x="4334619" y="4855815"/>
            <a:ext cx="31183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19"/>
          <p:cNvSpPr/>
          <p:nvPr/>
        </p:nvSpPr>
        <p:spPr>
          <a:xfrm>
            <a:off x="7453014" y="4855815"/>
            <a:ext cx="20210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19"/>
          <p:cNvSpPr/>
          <p:nvPr/>
        </p:nvSpPr>
        <p:spPr>
          <a:xfrm>
            <a:off x="9474100" y="4855815"/>
            <a:ext cx="213687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19" descr="image.png"/>
          <p:cNvPicPr preferRelativeResize="0"/>
          <p:nvPr/>
        </p:nvPicPr>
        <p:blipFill rotWithShape="1">
          <a:blip r:embed="rId5">
            <a:alphaModFix/>
          </a:blip>
          <a:srcRect/>
          <a:stretch/>
        </p:blipFill>
        <p:spPr>
          <a:xfrm>
            <a:off x="7681614" y="4452937"/>
            <a:ext cx="123825" cy="171450"/>
          </a:xfrm>
          <a:prstGeom prst="rect">
            <a:avLst/>
          </a:prstGeom>
          <a:noFill/>
          <a:ln>
            <a:noFill/>
          </a:ln>
        </p:spPr>
      </p:pic>
      <p:pic>
        <p:nvPicPr>
          <p:cNvPr id="219" name="Google Shape;219;p19" descr="image.png"/>
          <p:cNvPicPr preferRelativeResize="0"/>
          <p:nvPr/>
        </p:nvPicPr>
        <p:blipFill rotWithShape="1">
          <a:blip r:embed="rId5">
            <a:alphaModFix/>
          </a:blip>
          <a:srcRect/>
          <a:stretch/>
        </p:blipFill>
        <p:spPr>
          <a:xfrm>
            <a:off x="4563219" y="3788122"/>
            <a:ext cx="123825" cy="171450"/>
          </a:xfrm>
          <a:prstGeom prst="rect">
            <a:avLst/>
          </a:prstGeom>
          <a:noFill/>
          <a:ln>
            <a:noFill/>
          </a:ln>
        </p:spPr>
      </p:pic>
      <p:pic>
        <p:nvPicPr>
          <p:cNvPr id="220" name="Google Shape;220;p19" descr="image.png"/>
          <p:cNvPicPr preferRelativeResize="0"/>
          <p:nvPr/>
        </p:nvPicPr>
        <p:blipFill rotWithShape="1">
          <a:blip r:embed="rId6">
            <a:alphaModFix/>
          </a:blip>
          <a:srcRect/>
          <a:stretch/>
        </p:blipFill>
        <p:spPr>
          <a:xfrm>
            <a:off x="9702700" y="3123307"/>
            <a:ext cx="171450" cy="171450"/>
          </a:xfrm>
          <a:prstGeom prst="rect">
            <a:avLst/>
          </a:prstGeom>
          <a:noFill/>
          <a:ln>
            <a:noFill/>
          </a:ln>
        </p:spPr>
      </p:pic>
      <p:pic>
        <p:nvPicPr>
          <p:cNvPr id="221" name="Google Shape;221;p19" descr="image.png"/>
          <p:cNvPicPr preferRelativeResize="0"/>
          <p:nvPr/>
        </p:nvPicPr>
        <p:blipFill rotWithShape="1">
          <a:blip r:embed="rId7">
            <a:alphaModFix/>
          </a:blip>
          <a:srcRect/>
          <a:stretch/>
        </p:blipFill>
        <p:spPr>
          <a:xfrm>
            <a:off x="9702700" y="4452937"/>
            <a:ext cx="123825" cy="171450"/>
          </a:xfrm>
          <a:prstGeom prst="rect">
            <a:avLst/>
          </a:prstGeom>
          <a:noFill/>
          <a:ln>
            <a:noFill/>
          </a:ln>
        </p:spPr>
      </p:pic>
      <p:pic>
        <p:nvPicPr>
          <p:cNvPr id="222" name="Google Shape;222;p19" descr="image.png"/>
          <p:cNvPicPr preferRelativeResize="0"/>
          <p:nvPr/>
        </p:nvPicPr>
        <p:blipFill rotWithShape="1">
          <a:blip r:embed="rId5">
            <a:alphaModFix/>
          </a:blip>
          <a:srcRect/>
          <a:stretch/>
        </p:blipFill>
        <p:spPr>
          <a:xfrm>
            <a:off x="7681614" y="3123307"/>
            <a:ext cx="123825" cy="171450"/>
          </a:xfrm>
          <a:prstGeom prst="rect">
            <a:avLst/>
          </a:prstGeom>
          <a:noFill/>
          <a:ln>
            <a:noFill/>
          </a:ln>
        </p:spPr>
      </p:pic>
      <p:pic>
        <p:nvPicPr>
          <p:cNvPr id="223" name="Google Shape;223;p19" descr="image.png"/>
          <p:cNvPicPr preferRelativeResize="0"/>
          <p:nvPr/>
        </p:nvPicPr>
        <p:blipFill rotWithShape="1">
          <a:blip r:embed="rId8">
            <a:alphaModFix/>
          </a:blip>
          <a:srcRect/>
          <a:stretch/>
        </p:blipFill>
        <p:spPr>
          <a:xfrm>
            <a:off x="9702700" y="3788122"/>
            <a:ext cx="152400" cy="171450"/>
          </a:xfrm>
          <a:prstGeom prst="rect">
            <a:avLst/>
          </a:prstGeom>
          <a:noFill/>
          <a:ln>
            <a:noFill/>
          </a:ln>
        </p:spPr>
      </p:pic>
      <p:pic>
        <p:nvPicPr>
          <p:cNvPr id="224" name="Google Shape;224;p19" descr="image.png"/>
          <p:cNvPicPr preferRelativeResize="0"/>
          <p:nvPr/>
        </p:nvPicPr>
        <p:blipFill rotWithShape="1">
          <a:blip r:embed="rId9">
            <a:alphaModFix/>
          </a:blip>
          <a:srcRect/>
          <a:stretch/>
        </p:blipFill>
        <p:spPr>
          <a:xfrm>
            <a:off x="4563219" y="4452937"/>
            <a:ext cx="152400" cy="171450"/>
          </a:xfrm>
          <a:prstGeom prst="rect">
            <a:avLst/>
          </a:prstGeom>
          <a:noFill/>
          <a:ln>
            <a:noFill/>
          </a:ln>
        </p:spPr>
      </p:pic>
      <p:pic>
        <p:nvPicPr>
          <p:cNvPr id="225" name="Google Shape;225;p19" descr="image.png"/>
          <p:cNvPicPr preferRelativeResize="0"/>
          <p:nvPr/>
        </p:nvPicPr>
        <p:blipFill rotWithShape="1">
          <a:blip r:embed="rId9">
            <a:alphaModFix/>
          </a:blip>
          <a:srcRect/>
          <a:stretch/>
        </p:blipFill>
        <p:spPr>
          <a:xfrm>
            <a:off x="4563219" y="3123307"/>
            <a:ext cx="152400" cy="171450"/>
          </a:xfrm>
          <a:prstGeom prst="rect">
            <a:avLst/>
          </a:prstGeom>
          <a:noFill/>
          <a:ln>
            <a:noFill/>
          </a:ln>
        </p:spPr>
      </p:pic>
      <p:pic>
        <p:nvPicPr>
          <p:cNvPr id="226" name="Google Shape;226;p19" descr="image.png"/>
          <p:cNvPicPr preferRelativeResize="0"/>
          <p:nvPr/>
        </p:nvPicPr>
        <p:blipFill rotWithShape="1">
          <a:blip r:embed="rId5">
            <a:alphaModFix/>
          </a:blip>
          <a:srcRect/>
          <a:stretch/>
        </p:blipFill>
        <p:spPr>
          <a:xfrm>
            <a:off x="7681614" y="3788122"/>
            <a:ext cx="123825" cy="171450"/>
          </a:xfrm>
          <a:prstGeom prst="rect">
            <a:avLst/>
          </a:prstGeom>
          <a:noFill/>
          <a:ln>
            <a:noFill/>
          </a:ln>
        </p:spPr>
      </p:pic>
      <p:pic>
        <p:nvPicPr>
          <p:cNvPr id="227" name="Google Shape;227;p19" descr="image.png"/>
          <p:cNvPicPr preferRelativeResize="0"/>
          <p:nvPr/>
        </p:nvPicPr>
        <p:blipFill rotWithShape="1">
          <a:blip r:embed="rId9">
            <a:alphaModFix/>
          </a:blip>
          <a:srcRect/>
          <a:stretch/>
        </p:blipFill>
        <p:spPr>
          <a:xfrm>
            <a:off x="4563219" y="3123307"/>
            <a:ext cx="152400" cy="171450"/>
          </a:xfrm>
          <a:prstGeom prst="rect">
            <a:avLst/>
          </a:prstGeom>
          <a:noFill/>
          <a:ln>
            <a:noFill/>
          </a:ln>
        </p:spPr>
      </p:pic>
      <p:pic>
        <p:nvPicPr>
          <p:cNvPr id="228" name="Google Shape;228;p19" descr="image.png"/>
          <p:cNvPicPr preferRelativeResize="0"/>
          <p:nvPr/>
        </p:nvPicPr>
        <p:blipFill rotWithShape="1">
          <a:blip r:embed="rId5">
            <a:alphaModFix/>
          </a:blip>
          <a:srcRect/>
          <a:stretch/>
        </p:blipFill>
        <p:spPr>
          <a:xfrm>
            <a:off x="7681614" y="3123307"/>
            <a:ext cx="123825" cy="171450"/>
          </a:xfrm>
          <a:prstGeom prst="rect">
            <a:avLst/>
          </a:prstGeom>
          <a:noFill/>
          <a:ln>
            <a:noFill/>
          </a:ln>
        </p:spPr>
      </p:pic>
      <p:pic>
        <p:nvPicPr>
          <p:cNvPr id="229" name="Google Shape;229;p19" descr="image.png"/>
          <p:cNvPicPr preferRelativeResize="0"/>
          <p:nvPr/>
        </p:nvPicPr>
        <p:blipFill rotWithShape="1">
          <a:blip r:embed="rId6">
            <a:alphaModFix/>
          </a:blip>
          <a:srcRect/>
          <a:stretch/>
        </p:blipFill>
        <p:spPr>
          <a:xfrm>
            <a:off x="9702700" y="3123307"/>
            <a:ext cx="171450" cy="171450"/>
          </a:xfrm>
          <a:prstGeom prst="rect">
            <a:avLst/>
          </a:prstGeom>
          <a:noFill/>
          <a:ln>
            <a:noFill/>
          </a:ln>
        </p:spPr>
      </p:pic>
      <p:pic>
        <p:nvPicPr>
          <p:cNvPr id="230" name="Google Shape;230;p19" descr="image.png"/>
          <p:cNvPicPr preferRelativeResize="0"/>
          <p:nvPr/>
        </p:nvPicPr>
        <p:blipFill rotWithShape="1">
          <a:blip r:embed="rId5">
            <a:alphaModFix/>
          </a:blip>
          <a:srcRect/>
          <a:stretch/>
        </p:blipFill>
        <p:spPr>
          <a:xfrm>
            <a:off x="4563219" y="3788122"/>
            <a:ext cx="123825" cy="171450"/>
          </a:xfrm>
          <a:prstGeom prst="rect">
            <a:avLst/>
          </a:prstGeom>
          <a:noFill/>
          <a:ln>
            <a:noFill/>
          </a:ln>
        </p:spPr>
      </p:pic>
      <p:pic>
        <p:nvPicPr>
          <p:cNvPr id="231" name="Google Shape;231;p19" descr="image.png"/>
          <p:cNvPicPr preferRelativeResize="0"/>
          <p:nvPr/>
        </p:nvPicPr>
        <p:blipFill rotWithShape="1">
          <a:blip r:embed="rId5">
            <a:alphaModFix/>
          </a:blip>
          <a:srcRect/>
          <a:stretch/>
        </p:blipFill>
        <p:spPr>
          <a:xfrm>
            <a:off x="7681614" y="3788122"/>
            <a:ext cx="123825" cy="171450"/>
          </a:xfrm>
          <a:prstGeom prst="rect">
            <a:avLst/>
          </a:prstGeom>
          <a:noFill/>
          <a:ln>
            <a:noFill/>
          </a:ln>
        </p:spPr>
      </p:pic>
      <p:pic>
        <p:nvPicPr>
          <p:cNvPr id="232" name="Google Shape;232;p19" descr="image.png"/>
          <p:cNvPicPr preferRelativeResize="0"/>
          <p:nvPr/>
        </p:nvPicPr>
        <p:blipFill rotWithShape="1">
          <a:blip r:embed="rId8">
            <a:alphaModFix/>
          </a:blip>
          <a:srcRect/>
          <a:stretch/>
        </p:blipFill>
        <p:spPr>
          <a:xfrm>
            <a:off x="9702700" y="3788122"/>
            <a:ext cx="152400" cy="171450"/>
          </a:xfrm>
          <a:prstGeom prst="rect">
            <a:avLst/>
          </a:prstGeom>
          <a:noFill/>
          <a:ln>
            <a:noFill/>
          </a:ln>
        </p:spPr>
      </p:pic>
      <p:pic>
        <p:nvPicPr>
          <p:cNvPr id="233" name="Google Shape;233;p19" descr="image.png"/>
          <p:cNvPicPr preferRelativeResize="0"/>
          <p:nvPr/>
        </p:nvPicPr>
        <p:blipFill rotWithShape="1">
          <a:blip r:embed="rId9">
            <a:alphaModFix/>
          </a:blip>
          <a:srcRect/>
          <a:stretch/>
        </p:blipFill>
        <p:spPr>
          <a:xfrm>
            <a:off x="4563219" y="4452937"/>
            <a:ext cx="152400" cy="171450"/>
          </a:xfrm>
          <a:prstGeom prst="rect">
            <a:avLst/>
          </a:prstGeom>
          <a:noFill/>
          <a:ln>
            <a:noFill/>
          </a:ln>
        </p:spPr>
      </p:pic>
      <p:pic>
        <p:nvPicPr>
          <p:cNvPr id="234" name="Google Shape;234;p19" descr="image.png"/>
          <p:cNvPicPr preferRelativeResize="0"/>
          <p:nvPr/>
        </p:nvPicPr>
        <p:blipFill rotWithShape="1">
          <a:blip r:embed="rId5">
            <a:alphaModFix/>
          </a:blip>
          <a:srcRect/>
          <a:stretch/>
        </p:blipFill>
        <p:spPr>
          <a:xfrm>
            <a:off x="7681614" y="4452937"/>
            <a:ext cx="123825" cy="171450"/>
          </a:xfrm>
          <a:prstGeom prst="rect">
            <a:avLst/>
          </a:prstGeom>
          <a:noFill/>
          <a:ln>
            <a:noFill/>
          </a:ln>
        </p:spPr>
      </p:pic>
      <p:pic>
        <p:nvPicPr>
          <p:cNvPr id="235" name="Google Shape;235;p19" descr="image.png"/>
          <p:cNvPicPr preferRelativeResize="0"/>
          <p:nvPr/>
        </p:nvPicPr>
        <p:blipFill rotWithShape="1">
          <a:blip r:embed="rId7">
            <a:alphaModFix/>
          </a:blip>
          <a:srcRect/>
          <a:stretch/>
        </p:blipFill>
        <p:spPr>
          <a:xfrm>
            <a:off x="9702700" y="4452937"/>
            <a:ext cx="123825" cy="171450"/>
          </a:xfrm>
          <a:prstGeom prst="rect">
            <a:avLst/>
          </a:prstGeom>
          <a:noFill/>
          <a:ln>
            <a:noFill/>
          </a:ln>
        </p:spPr>
      </p:pic>
      <p:sp>
        <p:nvSpPr>
          <p:cNvPr id="236" name="Google Shape;236;p19"/>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So Sánh Các Giải Pháp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40"/>
        <p:cNvGrpSpPr/>
        <p:nvPr/>
      </p:nvGrpSpPr>
      <p:grpSpPr>
        <a:xfrm>
          <a:off x="0" y="0"/>
          <a:ext cx="0" cy="0"/>
          <a:chOff x="0" y="0"/>
          <a:chExt cx="0" cy="0"/>
        </a:xfrm>
      </p:grpSpPr>
      <p:pic>
        <p:nvPicPr>
          <p:cNvPr id="241" name="Google Shape;241;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2" name="Google Shape;242;p20" descr="image.png"/>
          <p:cNvPicPr preferRelativeResize="0"/>
          <p:nvPr/>
        </p:nvPicPr>
        <p:blipFill rotWithShape="1">
          <a:blip r:embed="rId4">
            <a:alphaModFix/>
          </a:blip>
          <a:srcRect/>
          <a:stretch/>
        </p:blipFill>
        <p:spPr>
          <a:xfrm>
            <a:off x="571500" y="1768822"/>
            <a:ext cx="3492549" cy="4167931"/>
          </a:xfrm>
          <a:prstGeom prst="rect">
            <a:avLst/>
          </a:prstGeom>
          <a:noFill/>
          <a:ln>
            <a:noFill/>
          </a:ln>
        </p:spPr>
      </p:pic>
      <p:pic>
        <p:nvPicPr>
          <p:cNvPr id="243" name="Google Shape;243;p20" descr="image.png"/>
          <p:cNvPicPr preferRelativeResize="0"/>
          <p:nvPr/>
        </p:nvPicPr>
        <p:blipFill rotWithShape="1">
          <a:blip r:embed="rId5">
            <a:alphaModFix/>
          </a:blip>
          <a:srcRect/>
          <a:stretch/>
        </p:blipFill>
        <p:spPr>
          <a:xfrm>
            <a:off x="4349799" y="1768822"/>
            <a:ext cx="3492549" cy="4167931"/>
          </a:xfrm>
          <a:prstGeom prst="rect">
            <a:avLst/>
          </a:prstGeom>
          <a:noFill/>
          <a:ln>
            <a:noFill/>
          </a:ln>
        </p:spPr>
      </p:pic>
      <p:pic>
        <p:nvPicPr>
          <p:cNvPr id="244" name="Google Shape;244;p20" descr="image.png"/>
          <p:cNvPicPr preferRelativeResize="0"/>
          <p:nvPr/>
        </p:nvPicPr>
        <p:blipFill rotWithShape="1">
          <a:blip r:embed="rId6">
            <a:alphaModFix/>
          </a:blip>
          <a:srcRect/>
          <a:stretch/>
        </p:blipFill>
        <p:spPr>
          <a:xfrm>
            <a:off x="8128099" y="1768822"/>
            <a:ext cx="3492549" cy="4167931"/>
          </a:xfrm>
          <a:prstGeom prst="rect">
            <a:avLst/>
          </a:prstGeom>
          <a:noFill/>
          <a:ln>
            <a:noFill/>
          </a:ln>
        </p:spPr>
      </p:pic>
      <p:sp>
        <p:nvSpPr>
          <p:cNvPr id="245" name="Google Shape;245;p20"/>
          <p:cNvSpPr txBox="1"/>
          <p:nvPr/>
        </p:nvSpPr>
        <p:spPr>
          <a:xfrm>
            <a:off x="1242566" y="3016597"/>
            <a:ext cx="215026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1E293B"/>
                </a:solidFill>
                <a:latin typeface="Montserrat SemiBold"/>
                <a:ea typeface="Montserrat SemiBold"/>
                <a:cs typeface="Montserrat SemiBold"/>
                <a:sym typeface="Montserrat SemiBold"/>
              </a:rPr>
              <a:t>Lưu trữ JSONB</a:t>
            </a:r>
            <a:endParaRPr/>
          </a:p>
        </p:txBody>
      </p:sp>
      <p:sp>
        <p:nvSpPr>
          <p:cNvPr id="246" name="Google Shape;246;p20"/>
          <p:cNvSpPr txBox="1"/>
          <p:nvPr/>
        </p:nvSpPr>
        <p:spPr>
          <a:xfrm>
            <a:off x="866775" y="3483322"/>
            <a:ext cx="2901999" cy="192003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chemeClr val="dk1"/>
                </a:solidFill>
                <a:latin typeface="Open Sans"/>
                <a:ea typeface="Open Sans"/>
                <a:cs typeface="Open Sans"/>
                <a:sym typeface="Open Sans"/>
              </a:rPr>
              <a:t>Điểm cộng:</a:t>
            </a:r>
            <a:r>
              <a:rPr lang="en-US" sz="1350" b="0" i="0" u="none" strike="noStrike" cap="none">
                <a:solidFill>
                  <a:srgbClr val="64748B"/>
                </a:solidFill>
                <a:latin typeface="Open Sans"/>
                <a:ea typeface="Open Sans"/>
                <a:cs typeface="Open Sans"/>
                <a:sym typeface="Open Sans"/>
              </a:rPr>
              <a:t> Tính linh hoạt cao, cho phép một bảng Log phục vụ toàn hệ thống.</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1" i="0" u="none" strike="noStrike" cap="none">
                <a:solidFill>
                  <a:srgbClr val="EF4444"/>
                </a:solidFill>
                <a:latin typeface="Open Sans"/>
                <a:ea typeface="Open Sans"/>
                <a:cs typeface="Open Sans"/>
                <a:sym typeface="Open Sans"/>
              </a:rPr>
              <a:t>Đánh đổi:</a:t>
            </a:r>
            <a:r>
              <a:rPr lang="en-US" sz="1350" b="0" i="0" u="none" strike="noStrike" cap="none">
                <a:solidFill>
                  <a:srgbClr val="64748B"/>
                </a:solidFill>
                <a:latin typeface="Open Sans"/>
                <a:ea typeface="Open Sans"/>
                <a:cs typeface="Open Sans"/>
                <a:sym typeface="Open Sans"/>
              </a:rPr>
              <a:t> Tiêu tốn nhiều dung lượng lưu trữ (Storage) hơn dữ liệu chuẩn.</a:t>
            </a:r>
            <a:endParaRPr/>
          </a:p>
        </p:txBody>
      </p:sp>
      <p:sp>
        <p:nvSpPr>
          <p:cNvPr id="247" name="Google Shape;247;p20"/>
          <p:cNvSpPr txBox="1"/>
          <p:nvPr/>
        </p:nvSpPr>
        <p:spPr>
          <a:xfrm>
            <a:off x="5185886" y="3016597"/>
            <a:ext cx="1820227"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1E293B"/>
                </a:solidFill>
                <a:latin typeface="Montserrat SemiBold"/>
                <a:ea typeface="Montserrat SemiBold"/>
                <a:cs typeface="Montserrat SemiBold"/>
                <a:sym typeface="Montserrat SemiBold"/>
              </a:rPr>
              <a:t>Xử lý Trigger</a:t>
            </a:r>
            <a:endParaRPr/>
          </a:p>
        </p:txBody>
      </p:sp>
      <p:sp>
        <p:nvSpPr>
          <p:cNvPr id="248" name="Google Shape;248;p20"/>
          <p:cNvSpPr txBox="1"/>
          <p:nvPr/>
        </p:nvSpPr>
        <p:spPr>
          <a:xfrm>
            <a:off x="4645074" y="3483322"/>
            <a:ext cx="2901999" cy="192003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chemeClr val="dk1"/>
                </a:solidFill>
                <a:latin typeface="Open Sans"/>
                <a:ea typeface="Open Sans"/>
                <a:cs typeface="Open Sans"/>
                <a:sym typeface="Open Sans"/>
              </a:rPr>
              <a:t>Ưu điểm:</a:t>
            </a:r>
            <a:r>
              <a:rPr lang="en-US" sz="1350" b="0" i="0" u="none" strike="noStrike" cap="none">
                <a:solidFill>
                  <a:srgbClr val="64748B"/>
                </a:solidFill>
                <a:latin typeface="Open Sans"/>
                <a:ea typeface="Open Sans"/>
                <a:cs typeface="Open Sans"/>
                <a:sym typeface="Open Sans"/>
              </a:rPr>
              <a:t> Triển khai trong suốt, không yêu cầu thay đổi mã nguồn phía Application.</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1" i="0" u="none" strike="noStrike" cap="none">
                <a:solidFill>
                  <a:srgbClr val="EF4444"/>
                </a:solidFill>
                <a:latin typeface="Open Sans"/>
                <a:ea typeface="Open Sans"/>
                <a:cs typeface="Open Sans"/>
                <a:sym typeface="Open Sans"/>
              </a:rPr>
              <a:t>Đánh đổi:</a:t>
            </a:r>
            <a:r>
              <a:rPr lang="en-US" sz="1350" b="0" i="0" u="none" strike="noStrike" cap="none">
                <a:solidFill>
                  <a:srgbClr val="64748B"/>
                </a:solidFill>
                <a:latin typeface="Open Sans"/>
                <a:ea typeface="Open Sans"/>
                <a:cs typeface="Open Sans"/>
                <a:sym typeface="Open Sans"/>
              </a:rPr>
              <a:t> Tăng độ trễ (Latency) cho các giao dịch DML và khó khăn khi debug.</a:t>
            </a:r>
            <a:endParaRPr/>
          </a:p>
        </p:txBody>
      </p:sp>
      <p:sp>
        <p:nvSpPr>
          <p:cNvPr id="249" name="Google Shape;249;p20"/>
          <p:cNvSpPr txBox="1"/>
          <p:nvPr/>
        </p:nvSpPr>
        <p:spPr>
          <a:xfrm>
            <a:off x="9014192" y="3016597"/>
            <a:ext cx="172021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1E293B"/>
                </a:solidFill>
                <a:latin typeface="Montserrat SemiBold"/>
                <a:ea typeface="Montserrat SemiBold"/>
                <a:cs typeface="Montserrat SemiBold"/>
                <a:sym typeface="Montserrat SemiBold"/>
              </a:rPr>
              <a:t>Partitioning</a:t>
            </a:r>
            <a:endParaRPr/>
          </a:p>
        </p:txBody>
      </p:sp>
      <p:sp>
        <p:nvSpPr>
          <p:cNvPr id="250" name="Google Shape;250;p20"/>
          <p:cNvSpPr txBox="1"/>
          <p:nvPr/>
        </p:nvSpPr>
        <p:spPr>
          <a:xfrm>
            <a:off x="8423374" y="3483322"/>
            <a:ext cx="2901999" cy="192003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chemeClr val="dk1"/>
                </a:solidFill>
                <a:latin typeface="Open Sans"/>
                <a:ea typeface="Open Sans"/>
                <a:cs typeface="Open Sans"/>
                <a:sym typeface="Open Sans"/>
              </a:rPr>
              <a:t>Quản lý:</a:t>
            </a:r>
            <a:r>
              <a:rPr lang="en-US" sz="1350" b="0" i="0" u="none" strike="noStrike" cap="none">
                <a:solidFill>
                  <a:srgbClr val="64748B"/>
                </a:solidFill>
                <a:latin typeface="Open Sans"/>
                <a:ea typeface="Open Sans"/>
                <a:cs typeface="Open Sans"/>
                <a:sym typeface="Open Sans"/>
              </a:rPr>
              <a:t> Quản lý vòng đời xuất sắc (Drop partition tức thì không khóa bảng).</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1" i="0" u="none" strike="noStrike" cap="none">
                <a:solidFill>
                  <a:srgbClr val="EF4444"/>
                </a:solidFill>
                <a:latin typeface="Open Sans"/>
                <a:ea typeface="Open Sans"/>
                <a:cs typeface="Open Sans"/>
                <a:sym typeface="Open Sans"/>
              </a:rPr>
              <a:t>Đánh đổi:</a:t>
            </a:r>
            <a:r>
              <a:rPr lang="en-US" sz="1350" b="0" i="0" u="none" strike="noStrike" cap="none">
                <a:solidFill>
                  <a:srgbClr val="64748B"/>
                </a:solidFill>
                <a:latin typeface="Open Sans"/>
                <a:ea typeface="Open Sans"/>
                <a:cs typeface="Open Sans"/>
                <a:sym typeface="Open Sans"/>
              </a:rPr>
              <a:t> Các câu truy vấn quét chéo phân mảnh (Cross-partition) bị chậm.</a:t>
            </a:r>
            <a:endParaRPr/>
          </a:p>
        </p:txBody>
      </p:sp>
      <p:pic>
        <p:nvPicPr>
          <p:cNvPr id="251" name="Google Shape;251;p20" descr="image.png"/>
          <p:cNvPicPr preferRelativeResize="0"/>
          <p:nvPr/>
        </p:nvPicPr>
        <p:blipFill rotWithShape="1">
          <a:blip r:embed="rId7">
            <a:alphaModFix/>
          </a:blip>
          <a:srcRect/>
          <a:stretch/>
        </p:blipFill>
        <p:spPr>
          <a:xfrm>
            <a:off x="2031950" y="2245072"/>
            <a:ext cx="571500" cy="457200"/>
          </a:xfrm>
          <a:prstGeom prst="rect">
            <a:avLst/>
          </a:prstGeom>
          <a:noFill/>
          <a:ln>
            <a:noFill/>
          </a:ln>
        </p:spPr>
      </p:pic>
      <p:pic>
        <p:nvPicPr>
          <p:cNvPr id="252" name="Google Shape;252;p20" descr="image.png"/>
          <p:cNvPicPr preferRelativeResize="0"/>
          <p:nvPr/>
        </p:nvPicPr>
        <p:blipFill rotWithShape="1">
          <a:blip r:embed="rId8">
            <a:alphaModFix/>
          </a:blip>
          <a:srcRect/>
          <a:stretch/>
        </p:blipFill>
        <p:spPr>
          <a:xfrm>
            <a:off x="5895975" y="2245072"/>
            <a:ext cx="400050" cy="457200"/>
          </a:xfrm>
          <a:prstGeom prst="rect">
            <a:avLst/>
          </a:prstGeom>
          <a:noFill/>
          <a:ln>
            <a:noFill/>
          </a:ln>
        </p:spPr>
      </p:pic>
      <p:pic>
        <p:nvPicPr>
          <p:cNvPr id="253" name="Google Shape;253;p20" descr="image.png"/>
          <p:cNvPicPr preferRelativeResize="0"/>
          <p:nvPr/>
        </p:nvPicPr>
        <p:blipFill rotWithShape="1">
          <a:blip r:embed="rId9">
            <a:alphaModFix/>
          </a:blip>
          <a:srcRect/>
          <a:stretch/>
        </p:blipFill>
        <p:spPr>
          <a:xfrm>
            <a:off x="9588549" y="2245072"/>
            <a:ext cx="571500" cy="457200"/>
          </a:xfrm>
          <a:prstGeom prst="rect">
            <a:avLst/>
          </a:prstGeom>
          <a:noFill/>
          <a:ln>
            <a:noFill/>
          </a:ln>
        </p:spPr>
      </p:pic>
      <p:sp>
        <p:nvSpPr>
          <p:cNvPr id="254" name="Google Shape;254;p20"/>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Phân Tích Đánh Đổi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58"/>
        <p:cNvGrpSpPr/>
        <p:nvPr/>
      </p:nvGrpSpPr>
      <p:grpSpPr>
        <a:xfrm>
          <a:off x="0" y="0"/>
          <a:ext cx="0" cy="0"/>
          <a:chOff x="0" y="0"/>
          <a:chExt cx="0" cy="0"/>
        </a:xfrm>
      </p:grpSpPr>
      <p:pic>
        <p:nvPicPr>
          <p:cNvPr id="259" name="Google Shape;259;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0" name="Google Shape;260;p21" descr="image.png"/>
          <p:cNvPicPr preferRelativeResize="0"/>
          <p:nvPr/>
        </p:nvPicPr>
        <p:blipFill rotWithShape="1">
          <a:blip r:embed="rId4">
            <a:alphaModFix/>
          </a:blip>
          <a:srcRect/>
          <a:stretch/>
        </p:blipFill>
        <p:spPr>
          <a:xfrm>
            <a:off x="571500" y="5018484"/>
            <a:ext cx="3227189" cy="638621"/>
          </a:xfrm>
          <a:prstGeom prst="rect">
            <a:avLst/>
          </a:prstGeom>
          <a:noFill/>
          <a:ln>
            <a:noFill/>
          </a:ln>
        </p:spPr>
      </p:pic>
      <p:pic>
        <p:nvPicPr>
          <p:cNvPr id="261" name="Google Shape;261;p21" descr="image.png"/>
          <p:cNvPicPr preferRelativeResize="0"/>
          <p:nvPr/>
        </p:nvPicPr>
        <p:blipFill rotWithShape="1">
          <a:blip r:embed="rId5">
            <a:alphaModFix/>
          </a:blip>
          <a:srcRect/>
          <a:stretch/>
        </p:blipFill>
        <p:spPr>
          <a:xfrm>
            <a:off x="6334125" y="1947862"/>
            <a:ext cx="5286375" cy="3810000"/>
          </a:xfrm>
          <a:prstGeom prst="rect">
            <a:avLst/>
          </a:prstGeom>
          <a:noFill/>
          <a:ln>
            <a:noFill/>
          </a:ln>
        </p:spPr>
      </p:pic>
      <p:sp>
        <p:nvSpPr>
          <p:cNvPr id="262" name="Google Shape;262;p21"/>
          <p:cNvSpPr txBox="1"/>
          <p:nvPr/>
        </p:nvSpPr>
        <p:spPr>
          <a:xfrm>
            <a:off x="571500" y="4458444"/>
            <a:ext cx="5286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E293B"/>
                </a:solidFill>
                <a:latin typeface="Open Sans SemiBold"/>
                <a:ea typeface="Open Sans SemiBold"/>
                <a:cs typeface="Open Sans SemiBold"/>
                <a:sym typeface="Open Sans SemiBold"/>
              </a:rPr>
              <a:t>Tamper-evident logging (Chống giả mạo):</a:t>
            </a:r>
            <a:endParaRPr/>
          </a:p>
        </p:txBody>
      </p:sp>
      <p:sp>
        <p:nvSpPr>
          <p:cNvPr id="263" name="Google Shape;263;p21"/>
          <p:cNvSpPr txBox="1"/>
          <p:nvPr/>
        </p:nvSpPr>
        <p:spPr>
          <a:xfrm>
            <a:off x="857250" y="1947862"/>
            <a:ext cx="50006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Cơ chế Lưu trữ &amp; Vòng đời:</a:t>
            </a:r>
            <a:r>
              <a:rPr lang="en-US" sz="1350" b="0" i="0" u="none" strike="noStrike" cap="none">
                <a:solidFill>
                  <a:srgbClr val="1E293B"/>
                </a:solidFill>
                <a:latin typeface="Open Sans"/>
                <a:ea typeface="Open Sans"/>
                <a:cs typeface="Open Sans"/>
                <a:sym typeface="Open Sans"/>
              </a:rPr>
              <a:t> Sử dụng kiểu dữ liệu JSONB (Schema-less). Phân mảnh theo thời gian giúp tối ưu quản lý, hỗ trợ lưu trữ phân cấp và Drop sau 6 tháng.</a:t>
            </a:r>
            <a:endParaRPr/>
          </a:p>
        </p:txBody>
      </p:sp>
      <p:sp>
        <p:nvSpPr>
          <p:cNvPr id="264" name="Google Shape;264;p21"/>
          <p:cNvSpPr txBox="1"/>
          <p:nvPr/>
        </p:nvSpPr>
        <p:spPr>
          <a:xfrm>
            <a:off x="857250" y="2961233"/>
            <a:ext cx="50006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Xử lý &amp; Tối ưu:</a:t>
            </a:r>
            <a:r>
              <a:rPr lang="en-US" sz="1350" b="0" i="0" u="none" strike="noStrike" cap="none">
                <a:solidFill>
                  <a:srgbClr val="1E293B"/>
                </a:solidFill>
                <a:latin typeface="Open Sans"/>
                <a:ea typeface="Open Sans"/>
                <a:cs typeface="Open Sans"/>
                <a:sym typeface="Open Sans"/>
              </a:rPr>
              <a:t> Xây dựng Dynamic Triggers bằng PL/pgSQL để tự động bắt sự kiện, tránh Blocking I/O cho nghiệp vụ chính.</a:t>
            </a:r>
            <a:endParaRPr/>
          </a:p>
        </p:txBody>
      </p:sp>
      <p:sp>
        <p:nvSpPr>
          <p:cNvPr id="265" name="Google Shape;265;p21"/>
          <p:cNvSpPr txBox="1"/>
          <p:nvPr/>
        </p:nvSpPr>
        <p:spPr>
          <a:xfrm>
            <a:off x="857250" y="3700313"/>
            <a:ext cx="5000625" cy="5676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Open Sans"/>
                <a:ea typeface="Open Sans"/>
                <a:cs typeface="Open Sans"/>
                <a:sym typeface="Open Sans"/>
              </a:rPr>
              <a:t>An toàn &amp; Bảo mật:</a:t>
            </a:r>
            <a:r>
              <a:rPr lang="en-US" sz="1350" b="0" i="0" u="none" strike="noStrike" cap="none">
                <a:solidFill>
                  <a:srgbClr val="1E293B"/>
                </a:solidFill>
                <a:latin typeface="Open Sans"/>
                <a:ea typeface="Open Sans"/>
                <a:cs typeface="Open Sans"/>
                <a:sym typeface="Open Sans"/>
              </a:rPr>
              <a:t> Áp dụng SECURITY DEFINER ủy quyền ghi log. Chặn UPDATE/DELETE tạo cấu trúc "Append-Only".</a:t>
            </a:r>
            <a:endParaRPr/>
          </a:p>
        </p:txBody>
      </p:sp>
      <p:pic>
        <p:nvPicPr>
          <p:cNvPr id="266" name="Google Shape;266;p21" descr="image.png"/>
          <p:cNvPicPr preferRelativeResize="0"/>
          <p:nvPr/>
        </p:nvPicPr>
        <p:blipFill rotWithShape="1">
          <a:blip r:embed="rId6">
            <a:alphaModFix/>
          </a:blip>
          <a:srcRect/>
          <a:stretch/>
        </p:blipFill>
        <p:spPr>
          <a:xfrm>
            <a:off x="800100" y="5228034"/>
            <a:ext cx="2808089" cy="238571"/>
          </a:xfrm>
          <a:prstGeom prst="rect">
            <a:avLst/>
          </a:prstGeom>
          <a:noFill/>
          <a:ln>
            <a:noFill/>
          </a:ln>
        </p:spPr>
      </p:pic>
      <p:pic>
        <p:nvPicPr>
          <p:cNvPr id="267" name="Google Shape;267;p21" descr="image.png"/>
          <p:cNvPicPr preferRelativeResize="0"/>
          <p:nvPr/>
        </p:nvPicPr>
        <p:blipFill rotWithShape="1">
          <a:blip r:embed="rId7">
            <a:alphaModFix/>
          </a:blip>
          <a:srcRect/>
          <a:stretch/>
        </p:blipFill>
        <p:spPr>
          <a:xfrm>
            <a:off x="6343650" y="1957387"/>
            <a:ext cx="5267325" cy="3790950"/>
          </a:xfrm>
          <a:prstGeom prst="rect">
            <a:avLst/>
          </a:prstGeom>
          <a:noFill/>
          <a:ln>
            <a:noFill/>
          </a:ln>
        </p:spPr>
      </p:pic>
      <p:sp>
        <p:nvSpPr>
          <p:cNvPr id="268" name="Google Shape;268;p21"/>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Nội Dung Kỹ Thuật</a:t>
            </a:r>
            <a:endParaRPr/>
          </a:p>
        </p:txBody>
      </p:sp>
      <p:pic>
        <p:nvPicPr>
          <p:cNvPr id="269" name="Google Shape;269;p21" descr="image.png"/>
          <p:cNvPicPr preferRelativeResize="0"/>
          <p:nvPr/>
        </p:nvPicPr>
        <p:blipFill rotWithShape="1">
          <a:blip r:embed="rId8">
            <a:alphaModFix/>
          </a:blip>
          <a:srcRect/>
          <a:stretch/>
        </p:blipFill>
        <p:spPr>
          <a:xfrm>
            <a:off x="571500" y="1966912"/>
            <a:ext cx="95250" cy="200025"/>
          </a:xfrm>
          <a:prstGeom prst="rect">
            <a:avLst/>
          </a:prstGeom>
          <a:noFill/>
          <a:ln>
            <a:noFill/>
          </a:ln>
        </p:spPr>
      </p:pic>
      <p:pic>
        <p:nvPicPr>
          <p:cNvPr id="270" name="Google Shape;270;p21" descr="image.png"/>
          <p:cNvPicPr preferRelativeResize="0"/>
          <p:nvPr/>
        </p:nvPicPr>
        <p:blipFill rotWithShape="1">
          <a:blip r:embed="rId8">
            <a:alphaModFix/>
          </a:blip>
          <a:srcRect/>
          <a:stretch/>
        </p:blipFill>
        <p:spPr>
          <a:xfrm>
            <a:off x="571500" y="2980283"/>
            <a:ext cx="95250" cy="200025"/>
          </a:xfrm>
          <a:prstGeom prst="rect">
            <a:avLst/>
          </a:prstGeom>
          <a:noFill/>
          <a:ln>
            <a:noFill/>
          </a:ln>
        </p:spPr>
      </p:pic>
      <p:pic>
        <p:nvPicPr>
          <p:cNvPr id="271" name="Google Shape;271;p21" descr="image.png"/>
          <p:cNvPicPr preferRelativeResize="0"/>
          <p:nvPr/>
        </p:nvPicPr>
        <p:blipFill rotWithShape="1">
          <a:blip r:embed="rId8">
            <a:alphaModFix/>
          </a:blip>
          <a:srcRect/>
          <a:stretch/>
        </p:blipFill>
        <p:spPr>
          <a:xfrm>
            <a:off x="571500" y="3719363"/>
            <a:ext cx="95250" cy="200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19"/>
        <p:cNvGrpSpPr/>
        <p:nvPr/>
      </p:nvGrpSpPr>
      <p:grpSpPr>
        <a:xfrm>
          <a:off x="0" y="0"/>
          <a:ext cx="0" cy="0"/>
          <a:chOff x="0" y="0"/>
          <a:chExt cx="0" cy="0"/>
        </a:xfrm>
      </p:grpSpPr>
      <p:pic>
        <p:nvPicPr>
          <p:cNvPr id="320" name="Google Shape;32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1" name="Google Shape;321;p23"/>
          <p:cNvSpPr txBox="1"/>
          <p:nvPr/>
        </p:nvSpPr>
        <p:spPr>
          <a:xfrm>
            <a:off x="571500" y="571500"/>
            <a:ext cx="5200650" cy="933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Môi Trường Thực Nghiệm</a:t>
            </a:r>
            <a:endParaRPr/>
          </a:p>
        </p:txBody>
      </p:sp>
      <p:pic>
        <p:nvPicPr>
          <p:cNvPr id="322" name="Google Shape;322;p23"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323" name="Google Shape;323;p23"/>
          <p:cNvSpPr txBox="1"/>
          <p:nvPr/>
        </p:nvSpPr>
        <p:spPr>
          <a:xfrm>
            <a:off x="571500" y="2606129"/>
            <a:ext cx="256032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Montserrat SemiBold"/>
                <a:ea typeface="Montserrat SemiBold"/>
                <a:cs typeface="Montserrat SemiBold"/>
                <a:sym typeface="Montserrat SemiBold"/>
              </a:rPr>
              <a:t>Hệ thống &amp; Cấu hình</a:t>
            </a:r>
            <a:endParaRPr/>
          </a:p>
        </p:txBody>
      </p:sp>
      <p:sp>
        <p:nvSpPr>
          <p:cNvPr id="324" name="Google Shape;324;p23"/>
          <p:cNvSpPr txBox="1"/>
          <p:nvPr/>
        </p:nvSpPr>
        <p:spPr>
          <a:xfrm>
            <a:off x="571500" y="2977604"/>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64748B"/>
                </a:solidFill>
                <a:latin typeface="Open Sans"/>
                <a:ea typeface="Open Sans"/>
                <a:cs typeface="Open Sans"/>
                <a:sym typeface="Open Sans"/>
              </a:rPr>
              <a:t>PostgreSQL 16 (Hỗ trợ tối ưu JSONB, Partitioning) chạy trên Ubuntu Server (WSL2), sử dụng 4 vCPU, 8GB RAM, SSD.</a:t>
            </a:r>
            <a:endParaRPr/>
          </a:p>
        </p:txBody>
      </p:sp>
      <p:sp>
        <p:nvSpPr>
          <p:cNvPr id="325" name="Google Shape;325;p23"/>
          <p:cNvSpPr txBox="1"/>
          <p:nvPr/>
        </p:nvSpPr>
        <p:spPr>
          <a:xfrm>
            <a:off x="571500" y="3764309"/>
            <a:ext cx="2150268"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Montserrat SemiBold"/>
                <a:ea typeface="Montserrat SemiBold"/>
                <a:cs typeface="Montserrat SemiBold"/>
                <a:sym typeface="Montserrat SemiBold"/>
              </a:rPr>
              <a:t>Bộ dữ liệu giả lập</a:t>
            </a:r>
            <a:endParaRPr/>
          </a:p>
        </p:txBody>
      </p:sp>
      <p:sp>
        <p:nvSpPr>
          <p:cNvPr id="326" name="Google Shape;326;p23"/>
          <p:cNvSpPr txBox="1"/>
          <p:nvPr/>
        </p:nvSpPr>
        <p:spPr>
          <a:xfrm>
            <a:off x="571500" y="4135784"/>
            <a:ext cx="4953000" cy="10971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64748B"/>
                </a:solidFill>
                <a:latin typeface="Open Sans"/>
                <a:ea typeface="Open Sans"/>
                <a:cs typeface="Open Sans"/>
                <a:sym typeface="Open Sans"/>
              </a:rPr>
              <a:t>Bảng Orders: 1,000,000 dòng mô phỏng mật độ cao (Stress Test).</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64748B"/>
                </a:solidFill>
                <a:latin typeface="Open Sans"/>
                <a:ea typeface="Open Sans"/>
                <a:cs typeface="Open Sans"/>
                <a:sym typeface="Open Sans"/>
              </a:rPr>
              <a:t> Bảng Products: 100,000 dòng kiểm chứng đa cấu trúc.</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64748B"/>
                </a:solidFill>
                <a:latin typeface="Open Sans"/>
                <a:ea typeface="Open Sans"/>
                <a:cs typeface="Open Sans"/>
                <a:sym typeface="Open Sans"/>
              </a:rPr>
              <a:t> Bảng Audit Logs: 10,000,000 dòng (5GB-8GB) với GIN Index.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30"/>
        <p:cNvGrpSpPr/>
        <p:nvPr/>
      </p:nvGrpSpPr>
      <p:grpSpPr>
        <a:xfrm>
          <a:off x="0" y="0"/>
          <a:ext cx="0" cy="0"/>
          <a:chOff x="0" y="0"/>
          <a:chExt cx="0" cy="0"/>
        </a:xfrm>
      </p:grpSpPr>
      <p:pic>
        <p:nvPicPr>
          <p:cNvPr id="331" name="Google Shape;331;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2" name="Google Shape;332;p24" descr="image.png"/>
          <p:cNvPicPr preferRelativeResize="0"/>
          <p:nvPr/>
        </p:nvPicPr>
        <p:blipFill rotWithShape="1">
          <a:blip r:embed="rId4">
            <a:alphaModFix/>
          </a:blip>
          <a:srcRect/>
          <a:stretch/>
        </p:blipFill>
        <p:spPr>
          <a:xfrm>
            <a:off x="571500" y="2012751"/>
            <a:ext cx="3492549" cy="1905000"/>
          </a:xfrm>
          <a:prstGeom prst="rect">
            <a:avLst/>
          </a:prstGeom>
          <a:noFill/>
          <a:ln>
            <a:noFill/>
          </a:ln>
        </p:spPr>
      </p:pic>
      <p:pic>
        <p:nvPicPr>
          <p:cNvPr id="333" name="Google Shape;333;p24" descr="image.png"/>
          <p:cNvPicPr preferRelativeResize="0"/>
          <p:nvPr/>
        </p:nvPicPr>
        <p:blipFill rotWithShape="1">
          <a:blip r:embed="rId5">
            <a:alphaModFix/>
          </a:blip>
          <a:srcRect/>
          <a:stretch/>
        </p:blipFill>
        <p:spPr>
          <a:xfrm>
            <a:off x="4349799" y="2012751"/>
            <a:ext cx="3492549" cy="1905000"/>
          </a:xfrm>
          <a:prstGeom prst="rect">
            <a:avLst/>
          </a:prstGeom>
          <a:noFill/>
          <a:ln>
            <a:noFill/>
          </a:ln>
        </p:spPr>
      </p:pic>
      <p:pic>
        <p:nvPicPr>
          <p:cNvPr id="334" name="Google Shape;334;p24" descr="image.png"/>
          <p:cNvPicPr preferRelativeResize="0"/>
          <p:nvPr/>
        </p:nvPicPr>
        <p:blipFill rotWithShape="1">
          <a:blip r:embed="rId6">
            <a:alphaModFix/>
          </a:blip>
          <a:srcRect/>
          <a:stretch/>
        </p:blipFill>
        <p:spPr>
          <a:xfrm>
            <a:off x="8128099" y="2012751"/>
            <a:ext cx="3492549" cy="1905000"/>
          </a:xfrm>
          <a:prstGeom prst="rect">
            <a:avLst/>
          </a:prstGeom>
          <a:noFill/>
          <a:ln>
            <a:noFill/>
          </a:ln>
        </p:spPr>
      </p:pic>
      <p:sp>
        <p:nvSpPr>
          <p:cNvPr id="335" name="Google Shape;335;p24"/>
          <p:cNvSpPr txBox="1"/>
          <p:nvPr/>
        </p:nvSpPr>
        <p:spPr>
          <a:xfrm>
            <a:off x="571500" y="4108251"/>
            <a:ext cx="366717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Hiệu Năng Xử Lý</a:t>
            </a:r>
            <a:endParaRPr/>
          </a:p>
        </p:txBody>
      </p:sp>
      <p:sp>
        <p:nvSpPr>
          <p:cNvPr id="336" name="Google Shape;336;p24"/>
          <p:cNvSpPr txBox="1"/>
          <p:nvPr/>
        </p:nvSpPr>
        <p:spPr>
          <a:xfrm>
            <a:off x="571500" y="4574976"/>
            <a:ext cx="3492549"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E293B"/>
                </a:solidFill>
                <a:latin typeface="Open Sans"/>
                <a:ea typeface="Open Sans"/>
                <a:cs typeface="Open Sans"/>
                <a:sym typeface="Open Sans"/>
              </a:rPr>
              <a:t>Sử dụng công cụ pgbench stress test 50 kết nối. Đánh giá mức độ sụt giảm TPS và Overhead tăng thêm khi áp dụng Trigger (Kỳ vọng &lt; 15%).</a:t>
            </a:r>
            <a:endParaRPr/>
          </a:p>
        </p:txBody>
      </p:sp>
      <p:sp>
        <p:nvSpPr>
          <p:cNvPr id="337" name="Google Shape;337;p24"/>
          <p:cNvSpPr txBox="1"/>
          <p:nvPr/>
        </p:nvSpPr>
        <p:spPr>
          <a:xfrm>
            <a:off x="4349799" y="4108251"/>
            <a:ext cx="366717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Mô Hình Lưu Trữ</a:t>
            </a:r>
            <a:endParaRPr/>
          </a:p>
        </p:txBody>
      </p:sp>
      <p:sp>
        <p:nvSpPr>
          <p:cNvPr id="338" name="Google Shape;338;p24"/>
          <p:cNvSpPr txBox="1"/>
          <p:nvPr/>
        </p:nvSpPr>
        <p:spPr>
          <a:xfrm>
            <a:off x="4349799" y="4574976"/>
            <a:ext cx="3492549"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E293B"/>
                </a:solidFill>
                <a:latin typeface="Open Sans"/>
                <a:ea typeface="Open Sans"/>
                <a:cs typeface="Open Sans"/>
                <a:sym typeface="Open Sans"/>
              </a:rPr>
              <a:t>Kiểm chứng JSONB lưu thành công cấu trúc Orders và Products vào chung 1 bảng. Đánh giá tốc độ giải phóng dữ liệu qua Drop Partition (&lt; 1s).</a:t>
            </a:r>
            <a:endParaRPr/>
          </a:p>
        </p:txBody>
      </p:sp>
      <p:sp>
        <p:nvSpPr>
          <p:cNvPr id="339" name="Google Shape;339;p24"/>
          <p:cNvSpPr txBox="1"/>
          <p:nvPr/>
        </p:nvSpPr>
        <p:spPr>
          <a:xfrm>
            <a:off x="8128099" y="4108251"/>
            <a:ext cx="366717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B82F6"/>
                </a:solidFill>
                <a:latin typeface="Montserrat SemiBold"/>
                <a:ea typeface="Montserrat SemiBold"/>
                <a:cs typeface="Montserrat SemiBold"/>
                <a:sym typeface="Montserrat SemiBold"/>
              </a:rPr>
              <a:t>An Toàn Bảo Mật</a:t>
            </a:r>
            <a:endParaRPr/>
          </a:p>
        </p:txBody>
      </p:sp>
      <p:sp>
        <p:nvSpPr>
          <p:cNvPr id="340" name="Google Shape;340;p24"/>
          <p:cNvSpPr txBox="1"/>
          <p:nvPr/>
        </p:nvSpPr>
        <p:spPr>
          <a:xfrm>
            <a:off x="8128099" y="4574976"/>
            <a:ext cx="3492549"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E293B"/>
                </a:solidFill>
                <a:latin typeface="Open Sans"/>
                <a:ea typeface="Open Sans"/>
                <a:cs typeface="Open Sans"/>
                <a:sym typeface="Open Sans"/>
              </a:rPr>
              <a:t>Kiểm thử Immutability: Tài khoản Admin can thiệp xóa/sửa bảng Audit sẽ bị chặn bởi Trigger và tự động sinh log cảnh báo bảo mật ra bảng độc lập.</a:t>
            </a:r>
            <a:endParaRPr/>
          </a:p>
        </p:txBody>
      </p:sp>
      <p:pic>
        <p:nvPicPr>
          <p:cNvPr id="341" name="Google Shape;341;p24" descr="image.png"/>
          <p:cNvPicPr preferRelativeResize="0"/>
          <p:nvPr/>
        </p:nvPicPr>
        <p:blipFill rotWithShape="1">
          <a:blip r:embed="rId7">
            <a:alphaModFix/>
          </a:blip>
          <a:srcRect/>
          <a:stretch/>
        </p:blipFill>
        <p:spPr>
          <a:xfrm>
            <a:off x="581025" y="2022276"/>
            <a:ext cx="3473499" cy="1885950"/>
          </a:xfrm>
          <a:prstGeom prst="rect">
            <a:avLst/>
          </a:prstGeom>
          <a:noFill/>
          <a:ln>
            <a:noFill/>
          </a:ln>
        </p:spPr>
      </p:pic>
      <p:pic>
        <p:nvPicPr>
          <p:cNvPr id="342" name="Google Shape;342;p24" descr="image.png"/>
          <p:cNvPicPr preferRelativeResize="0"/>
          <p:nvPr/>
        </p:nvPicPr>
        <p:blipFill rotWithShape="1">
          <a:blip r:embed="rId8">
            <a:alphaModFix/>
          </a:blip>
          <a:srcRect/>
          <a:stretch/>
        </p:blipFill>
        <p:spPr>
          <a:xfrm>
            <a:off x="4359324" y="2022276"/>
            <a:ext cx="3473499" cy="1885950"/>
          </a:xfrm>
          <a:prstGeom prst="rect">
            <a:avLst/>
          </a:prstGeom>
          <a:noFill/>
          <a:ln>
            <a:noFill/>
          </a:ln>
        </p:spPr>
      </p:pic>
      <p:pic>
        <p:nvPicPr>
          <p:cNvPr id="343" name="Google Shape;343;p24" descr="image.png"/>
          <p:cNvPicPr preferRelativeResize="0"/>
          <p:nvPr/>
        </p:nvPicPr>
        <p:blipFill rotWithShape="1">
          <a:blip r:embed="rId9">
            <a:alphaModFix/>
          </a:blip>
          <a:srcRect/>
          <a:stretch/>
        </p:blipFill>
        <p:spPr>
          <a:xfrm>
            <a:off x="8137624" y="2022276"/>
            <a:ext cx="3473499" cy="1885950"/>
          </a:xfrm>
          <a:prstGeom prst="rect">
            <a:avLst/>
          </a:prstGeom>
          <a:noFill/>
          <a:ln>
            <a:noFill/>
          </a:ln>
        </p:spPr>
      </p:pic>
      <p:sp>
        <p:nvSpPr>
          <p:cNvPr id="344" name="Google Shape;344;p24"/>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Kịch Bản Thực Nghiệm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48"/>
        <p:cNvGrpSpPr/>
        <p:nvPr/>
      </p:nvGrpSpPr>
      <p:grpSpPr>
        <a:xfrm>
          <a:off x="0" y="0"/>
          <a:ext cx="0" cy="0"/>
          <a:chOff x="0" y="0"/>
          <a:chExt cx="0" cy="0"/>
        </a:xfrm>
      </p:grpSpPr>
      <p:pic>
        <p:nvPicPr>
          <p:cNvPr id="349" name="Google Shape;349;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0" name="Google Shape;350;p25" descr="image.png"/>
          <p:cNvPicPr preferRelativeResize="0"/>
          <p:nvPr/>
        </p:nvPicPr>
        <p:blipFill rotWithShape="1">
          <a:blip r:embed="rId4">
            <a:alphaModFix/>
          </a:blip>
          <a:srcRect/>
          <a:stretch/>
        </p:blipFill>
        <p:spPr>
          <a:xfrm>
            <a:off x="571500" y="1419225"/>
            <a:ext cx="11049000" cy="4867275"/>
          </a:xfrm>
          <a:prstGeom prst="rect">
            <a:avLst/>
          </a:prstGeom>
          <a:noFill/>
          <a:ln>
            <a:noFill/>
          </a:ln>
        </p:spPr>
      </p:pic>
      <p:sp>
        <p:nvSpPr>
          <p:cNvPr id="351" name="Google Shape;351;p25"/>
          <p:cNvSpPr txBox="1"/>
          <p:nvPr/>
        </p:nvSpPr>
        <p:spPr>
          <a:xfrm>
            <a:off x="571500" y="4987230"/>
            <a:ext cx="1104900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1" u="none" strike="noStrike" cap="none">
                <a:solidFill>
                  <a:srgbClr val="1E293B"/>
                </a:solidFill>
                <a:latin typeface="Open Sans"/>
                <a:ea typeface="Open Sans"/>
                <a:cs typeface="Open Sans"/>
                <a:sym typeface="Open Sans"/>
              </a:rPr>
              <a:t>Việc lập chỉ mục GIN trên cột chứa dữ liệu JSONB mang lại sự khác biệt lớn, giảm thời gian tra cứu lịch sử từ hàng chục giây xuống chỉ còn tính bằng mili-giây, đáp ứng nhu cầu trích xuất báo cáo tức thời.</a:t>
            </a:r>
            <a:endParaRPr/>
          </a:p>
        </p:txBody>
      </p:sp>
      <p:sp>
        <p:nvSpPr>
          <p:cNvPr id="352" name="Google Shape;352;p25"/>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Montserrat"/>
                <a:ea typeface="Montserrat"/>
                <a:cs typeface="Montserrat"/>
                <a:sym typeface="Montserrat"/>
              </a:rPr>
              <a:t>Hiệu Năng Truy Vấn (Kỳ vọng)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56"/>
        <p:cNvGrpSpPr/>
        <p:nvPr/>
      </p:nvGrpSpPr>
      <p:grpSpPr>
        <a:xfrm>
          <a:off x="0" y="0"/>
          <a:ext cx="0" cy="0"/>
          <a:chOff x="0" y="0"/>
          <a:chExt cx="0" cy="0"/>
        </a:xfrm>
      </p:grpSpPr>
      <p:pic>
        <p:nvPicPr>
          <p:cNvPr id="357" name="Google Shape;357;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8" name="Google Shape;358;p26"/>
          <p:cNvSpPr/>
          <p:nvPr/>
        </p:nvSpPr>
        <p:spPr>
          <a:xfrm>
            <a:off x="5715000" y="2325290"/>
            <a:ext cx="762000" cy="4762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26"/>
          <p:cNvSpPr txBox="1"/>
          <p:nvPr/>
        </p:nvSpPr>
        <p:spPr>
          <a:xfrm>
            <a:off x="4835842" y="2658665"/>
            <a:ext cx="2520315"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50" b="1" i="0" u="none" strike="noStrike" cap="none">
                <a:solidFill>
                  <a:srgbClr val="F8FAFC"/>
                </a:solidFill>
                <a:latin typeface="Montserrat"/>
                <a:ea typeface="Montserrat"/>
                <a:cs typeface="Montserrat"/>
                <a:sym typeface="Montserrat"/>
              </a:rPr>
              <a:t>Kết Luận</a:t>
            </a:r>
            <a:endParaRPr/>
          </a:p>
        </p:txBody>
      </p:sp>
      <p:sp>
        <p:nvSpPr>
          <p:cNvPr id="360" name="Google Shape;360;p26"/>
          <p:cNvSpPr txBox="1"/>
          <p:nvPr/>
        </p:nvSpPr>
        <p:spPr>
          <a:xfrm>
            <a:off x="2286000" y="3477815"/>
            <a:ext cx="7620000" cy="134064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Open Sans"/>
                <a:ea typeface="Open Sans"/>
                <a:cs typeface="Open Sans"/>
                <a:sym typeface="Open Sans"/>
              </a:rPr>
              <a:t>Dựa trên kiến trúc Trigger + JSONB + Partitioning, hệ thống kỳ vọng sẽ giải quyết triệt để bài toán lưu vết của các tổ chức lớn, đảm bảo sự cân bằng hoàn hảo giữa </a:t>
            </a:r>
            <a:r>
              <a:rPr lang="en-US" sz="1650" b="1" i="0" u="none" strike="noStrike" cap="none">
                <a:solidFill>
                  <a:srgbClr val="CBD5E1"/>
                </a:solidFill>
                <a:latin typeface="Open Sans"/>
                <a:ea typeface="Open Sans"/>
                <a:cs typeface="Open Sans"/>
                <a:sym typeface="Open Sans"/>
              </a:rPr>
              <a:t>Hiệu Năng Cao</a:t>
            </a:r>
            <a:r>
              <a:rPr lang="en-US" sz="1650" b="0" i="0" u="none" strike="noStrike" cap="none">
                <a:solidFill>
                  <a:srgbClr val="CBD5E1"/>
                </a:solidFill>
                <a:latin typeface="Open Sans"/>
                <a:ea typeface="Open Sans"/>
                <a:cs typeface="Open Sans"/>
                <a:sym typeface="Open Sans"/>
              </a:rPr>
              <a:t>, </a:t>
            </a:r>
            <a:r>
              <a:rPr lang="en-US" sz="1650" b="1" i="0" u="none" strike="noStrike" cap="none">
                <a:solidFill>
                  <a:srgbClr val="CBD5E1"/>
                </a:solidFill>
                <a:latin typeface="Open Sans"/>
                <a:ea typeface="Open Sans"/>
                <a:cs typeface="Open Sans"/>
                <a:sym typeface="Open Sans"/>
              </a:rPr>
              <a:t>Tính Linh Hoạt Lưu Trữ</a:t>
            </a:r>
            <a:r>
              <a:rPr lang="en-US" sz="1650" b="0" i="0" u="none" strike="noStrike" cap="none">
                <a:solidFill>
                  <a:srgbClr val="CBD5E1"/>
                </a:solidFill>
                <a:latin typeface="Open Sans"/>
                <a:ea typeface="Open Sans"/>
                <a:cs typeface="Open Sans"/>
                <a:sym typeface="Open Sans"/>
              </a:rPr>
              <a:t> và </a:t>
            </a:r>
            <a:r>
              <a:rPr lang="en-US" sz="1650" b="1" i="0" u="none" strike="noStrike" cap="none">
                <a:solidFill>
                  <a:srgbClr val="CBD5E1"/>
                </a:solidFill>
                <a:latin typeface="Open Sans"/>
                <a:ea typeface="Open Sans"/>
                <a:cs typeface="Open Sans"/>
                <a:sym typeface="Open Sans"/>
              </a:rPr>
              <a:t>Chuẩn Mực Bảo Mật Mạnh</a:t>
            </a:r>
            <a:r>
              <a:rPr lang="en-US" sz="1650" b="0" i="0" u="none" strike="noStrike" cap="none">
                <a:solidFill>
                  <a:srgbClr val="CBD5E1"/>
                </a:solidFill>
                <a:latin typeface="Open Sans"/>
                <a:ea typeface="Open Sans"/>
                <a:cs typeface="Open Sans"/>
                <a:sym typeface="Open Sans"/>
              </a:rPr>
              <a:t>.</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1839</Words>
  <Application>Microsoft Office PowerPoint</Application>
  <PresentationFormat>Widescreen</PresentationFormat>
  <Paragraphs>158</Paragraphs>
  <Slides>17</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Tahoma</vt:lpstr>
      <vt:lpstr>Calibri</vt:lpstr>
      <vt:lpstr>Geo</vt:lpstr>
      <vt:lpstr>Montserrat SemiBold</vt:lpstr>
      <vt:lpstr>Open Sans</vt:lpstr>
      <vt:lpstr>Open Sans SemiBold</vt:lpstr>
      <vt:lpstr>Montserrat</vt:lpstr>
      <vt:lpstr>Office Theme</vt:lpstr>
      <vt:lpstr>PowerPoint Presentation</vt:lpstr>
      <vt:lpstr>Mục lục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Đăng Phúc Lợi</cp:lastModifiedBy>
  <cp:revision>2</cp:revision>
  <dcterms:modified xsi:type="dcterms:W3CDTF">2026-04-03T16:27:15Z</dcterms:modified>
</cp:coreProperties>
</file>